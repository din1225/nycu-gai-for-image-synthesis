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4" roundtripDataSignature="AMtx7miybCLZibBrsWuBhewNYuz+WXhU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clanthology.org/2024.findings-emnlp.34.pdf" TargetMode="External"/><Relationship Id="rId3" Type="http://schemas.openxmlformats.org/officeDocument/2006/relationships/hyperlink" Target="https://aclanthology.org/2023.findings-emnlp.83.pdf" TargetMode="External"/><Relationship Id="rId4" Type="http://schemas.openxmlformats.org/officeDocument/2006/relationships/hyperlink" Target="https://aclanthology.org/2024.findings-acl.830.pdf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clanthology.org/2024.findings-emnlp.34.pdf" TargetMode="External"/><Relationship Id="rId3" Type="http://schemas.openxmlformats.org/officeDocument/2006/relationships/hyperlink" Target="https://aclanthology.org/2023.findings-emnlp.83.pdf" TargetMode="External"/><Relationship Id="rId4" Type="http://schemas.openxmlformats.org/officeDocument/2006/relationships/hyperlink" Target="https://aclanthology.org/2024.findings-acl.830.pdf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ycollegenotebook.medium.com/rouge-%E8%A9%95%E4%BC%B0%E6%96%B9%E6%B3%95-%E8%87%AA%E5%8B%95%E6%96%87%E6%9C%AC%E6%91%98%E8%A6%81-8d9e9516698b" TargetMode="External"/><Relationship Id="rId3" Type="http://schemas.openxmlformats.org/officeDocument/2006/relationships/hyperlink" Target="https://www.wbolt.com/tw/bertscore-a-contextual-metric-for-llm-evaluation.html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7e7bb509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97e7bb509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>
                <a:solidFill>
                  <a:schemeClr val="dk1"/>
                </a:solidFill>
              </a:rPr>
              <a:t>核心目標是利用大型語言模型 (LLM)，為心理諮詢師</a:t>
            </a:r>
            <a:r>
              <a:rPr b="1" lang="zh-TW">
                <a:solidFill>
                  <a:schemeClr val="dk1"/>
                </a:solidFill>
              </a:rPr>
              <a:t>建構一個具有「個人化諮詢風格」的「數位分身」（Digital Twin）</a:t>
            </a:r>
            <a:endParaRPr/>
          </a:p>
        </p:txBody>
      </p:sp>
      <p:sp>
        <p:nvSpPr>
          <p:cNvPr id="53" name="Google Shape;53;g397e7bb509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7e7bb5097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97e7bb5097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5" name="Google Shape;65;g397e7bb5097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7e7bb5097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97e7bb5097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3" name="Google Shape;73;g397e7bb5097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7e7bb5097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97e7bb5097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chemeClr val="dk1"/>
                </a:solidFill>
              </a:rPr>
              <a:t>真實世界數據的稀缺性</a:t>
            </a:r>
            <a:r>
              <a:rPr lang="zh-TW" sz="1200">
                <a:solidFill>
                  <a:schemeClr val="dk1"/>
                </a:solidFill>
              </a:rPr>
              <a:t>：由於倫理政策和隱私保護，真實世界的多輪心理健康對話數據極其稀有。因此，大多數基於LLMs的心理健康研究都依賴於合成多輪對話數據集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chemeClr val="dk1"/>
                </a:solidFill>
              </a:rPr>
              <a:t>大型語言模型（LLMs）的發展與侷限</a:t>
            </a:r>
            <a:r>
              <a:rPr lang="zh-TW" sz="1200">
                <a:solidFill>
                  <a:schemeClr val="dk1"/>
                </a:solidFill>
              </a:rPr>
              <a:t>：近年來，大型語言模型（LLMs），如ChatGPT、GPT-4等，在多個領域取得了顯著進展。然而，在心理諮詢等專業領域，它們往往因缺乏領域專門知識而遇到限制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chemeClr val="dk1"/>
                </a:solidFill>
              </a:rPr>
              <a:t>現有的心理健康LLMs: MeChat、PsyChat、SoulChat、EmoLLM、MindChat和CPsyCoun等) 能夠為個人提供情感支持和諮詢服務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E8E8E8"/>
                </a:solidFill>
                <a:highlight>
                  <a:srgbClr val="22262B"/>
                </a:highlight>
              </a:rPr>
              <a:t>忽略諮詢師的個人風格</a:t>
            </a:r>
            <a:r>
              <a:rPr lang="zh-TW" sz="1200">
                <a:solidFill>
                  <a:srgbClr val="E8E8E8"/>
                </a:solidFill>
                <a:highlight>
                  <a:srgbClr val="22262B"/>
                </a:highlight>
              </a:rPr>
              <a:t>：現有的心理健康LLMs沒有考慮到不同的心理諮詢師會展現出不同的個人風格，包括語言風格和治療類型等。</a:t>
            </a:r>
            <a:endParaRPr sz="1200">
              <a:solidFill>
                <a:srgbClr val="E8E8E8"/>
              </a:solidFill>
              <a:highlight>
                <a:srgbClr val="2226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50">
                <a:solidFill>
                  <a:srgbClr val="E8E8E8"/>
                </a:solidFill>
                <a:highlight>
                  <a:srgbClr val="22262B"/>
                </a:highlight>
              </a:rPr>
              <a:t>無法滿足尋求不同諮詢風格的客戶的個性化需求。</a:t>
            </a:r>
            <a:r>
              <a:rPr b="1" lang="zh-TW" sz="1050">
                <a:solidFill>
                  <a:srgbClr val="E8E8E8"/>
                </a:solidFill>
                <a:highlight>
                  <a:srgbClr val="22262B"/>
                </a:highlight>
              </a:rPr>
              <a:t>混合風格數據導致模型不穩定</a:t>
            </a:r>
            <a:r>
              <a:rPr lang="zh-TW" sz="1050">
                <a:solidFill>
                  <a:srgbClr val="E8E8E8"/>
                </a:solidFill>
                <a:highlight>
                  <a:srgbClr val="22262B"/>
                </a:highlight>
              </a:rPr>
              <a:t>：將LLMs在混合了多種諮詢風格的多輪心理健康對話數據集上進行微調，往往會導致回應的不穩定</a:t>
            </a:r>
            <a:endParaRPr sz="1050">
              <a:solidFill>
                <a:srgbClr val="E8E8E8"/>
              </a:solidFill>
              <a:highlight>
                <a:srgbClr val="22262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E8E8E8"/>
              </a:solidFill>
              <a:highlight>
                <a:srgbClr val="22262B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目前雖然有許多應用於心理健康的 LLM（例如 PsyChat、SoulChat），但它們存在一個關鍵問題：</a:t>
            </a:r>
            <a:r>
              <a:rPr b="1" lang="zh-TW">
                <a:solidFill>
                  <a:schemeClr val="dk1"/>
                </a:solidFill>
              </a:rPr>
              <a:t>模型是「通用」的</a:t>
            </a:r>
            <a:r>
              <a:rPr lang="zh-TW">
                <a:solidFill>
                  <a:schemeClr val="dk1"/>
                </a:solidFill>
              </a:rPr>
              <a:t> 。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問題點：</a:t>
            </a:r>
            <a:r>
              <a:rPr lang="zh-TW">
                <a:solidFill>
                  <a:schemeClr val="dk1"/>
                </a:solidFill>
              </a:rPr>
              <a:t> 這些模型在訓練時，混合了來自不同諮詢師、具有不同諮詢風格（例如：語言風格、治療流派）的對話資料 。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後果：</a:t>
            </a:r>
            <a:r>
              <a:rPr lang="zh-TW">
                <a:solidFill>
                  <a:schemeClr val="dk1"/>
                </a:solidFill>
              </a:rPr>
              <a:t> 這會導致模型的回應風格不穩定 ，無法滿足那些尋求特定諮詢風格（例如：溫暖同理、理性分析）的來訪者的個人化需求 。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傳統方法的困難：</a:t>
            </a:r>
            <a:r>
              <a:rPr lang="zh-TW">
                <a:solidFill>
                  <a:schemeClr val="dk1"/>
                </a:solidFill>
              </a:rPr>
              <a:t> 如果要為 </a:t>
            </a:r>
            <a:r>
              <a:rPr i="1" lang="zh-TW">
                <a:solidFill>
                  <a:schemeClr val="dk1"/>
                </a:solidFill>
              </a:rPr>
              <a:t>某一位</a:t>
            </a:r>
            <a:r>
              <a:rPr lang="zh-TW">
                <a:solidFill>
                  <a:schemeClr val="dk1"/>
                </a:solidFill>
              </a:rPr>
              <a:t> 特定的諮詢師打造數位分身，傳統方法需要收集該諮詢師大量的真實諮詢案例，這在時間、金錢 和隱私倫理 上都非常困難。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E8E8E8"/>
              </a:solidFill>
              <a:highlight>
                <a:srgbClr val="22262B"/>
              </a:highlight>
            </a:endParaRPr>
          </a:p>
        </p:txBody>
      </p:sp>
      <p:sp>
        <p:nvSpPr>
          <p:cNvPr id="82" name="Google Shape;82;g397e7bb5097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7e7bb5097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97e7bb5097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2" name="Google Shape;92;g397e7bb5097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7e7bb5097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97e7bb5097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補上相關研究，以及他們可能有的缺點或少考量到的地方，所以作者才提出這個框架和LLM</a:t>
            </a:r>
            <a:endParaRPr b="1"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FF0000"/>
              </a:solidFill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SMILE</a:t>
            </a:r>
            <a:r>
              <a:rPr b="1" lang="zh-TW" sz="1200">
                <a:solidFill>
                  <a:schemeClr val="dk1"/>
                </a:solidFill>
              </a:rPr>
              <a:t>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使用 PsyQA 等單輪對話資料，設計一個特定 prompt 引導 ChatGPT 扮演心理學家和對話改寫者，將單輪對話改寫為至少十輪以上的多輪心理健康對話(SMILEChat dataset)，並用來微調ChatGLM2-6B  (得到MeChat )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SoulChat</a:t>
            </a:r>
            <a:r>
              <a:rPr lang="zh-TW" sz="1200">
                <a:solidFill>
                  <a:schemeClr val="dk1"/>
                </a:solidFill>
              </a:rPr>
              <a:t>：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透過資料外包服務收集大量中文心理諮詢的單輪問答資料，然後借鑒 SMILE 方法，設計一個強化了共情（包含傾聽、安慰、理解、信任等表達）的特定提示，用 ChatGPT 將這些單輪對話轉換為多輪共情對話；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對 ChatGPT 生成的多輪對話進行人工校對，特別強化共情能力，去建立超過兩百萬個樣本的 SoulChatCorpus；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對 ChatGLM-6B 等大型語言模型進行微調，顯著提升其在心理諮詢中的共情、傾聽和安慰能力</a:t>
            </a:r>
            <a:r>
              <a:rPr lang="zh-TW">
                <a:solidFill>
                  <a:schemeClr val="dk1"/>
                </a:solidFill>
              </a:rPr>
              <a:t>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(有點像是延伸並強化SMILE的做法，且用了比較多的資料。)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CPsyCoun</a:t>
            </a:r>
            <a:r>
              <a:rPr lang="zh-TW" sz="1200">
                <a:solidFill>
                  <a:schemeClr val="dk1"/>
                </a:solidFill>
              </a:rPr>
              <a:t>：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透過名為 Memo2Demo </a:t>
            </a:r>
            <a:r>
              <a:rPr b="1" lang="zh-TW">
                <a:solidFill>
                  <a:schemeClr val="dk1"/>
                </a:solidFill>
              </a:rPr>
              <a:t>兩階段方法</a:t>
            </a:r>
            <a:r>
              <a:rPr lang="zh-TW">
                <a:solidFill>
                  <a:schemeClr val="dk1"/>
                </a:solidFill>
              </a:rPr>
              <a:t>，從匿名的心理諮詢報告中重建</a:t>
            </a:r>
            <a:r>
              <a:rPr b="1" lang="zh-TW">
                <a:solidFill>
                  <a:schemeClr val="dk1"/>
                </a:solidFill>
              </a:rPr>
              <a:t>高品質的多輪對話資料集 </a:t>
            </a:r>
            <a:r>
              <a:rPr b="1"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CPsyCounD</a:t>
            </a:r>
            <a:r>
              <a:rPr lang="zh-TW">
                <a:solidFill>
                  <a:schemeClr val="dk1"/>
                </a:solidFill>
              </a:rPr>
              <a:t>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將報告轉換為諮詢筆記並在專業諮詢框架(詢問、診斷、諮詢、總結回顧) 下生成對話；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利用GPT-4依照制定好的評估標準當作prompt去評估單輪的表現，最後把所有單輪分數進行平均，得出多輪的分數。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最後在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CPsyCounD</a:t>
            </a:r>
            <a:r>
              <a:rPr lang="zh-TW">
                <a:solidFill>
                  <a:schemeClr val="dk1"/>
                </a:solidFill>
              </a:rPr>
              <a:t> 資料集上</a:t>
            </a:r>
            <a:r>
              <a:rPr b="1" lang="zh-TW">
                <a:solidFill>
                  <a:schemeClr val="dk1"/>
                </a:solidFill>
              </a:rPr>
              <a:t>微調 InternLM2-7B-Chat  (得到CPsyCounX)</a:t>
            </a:r>
            <a:r>
              <a:rPr lang="zh-TW">
                <a:solidFill>
                  <a:schemeClr val="dk1"/>
                </a:solidFill>
              </a:rPr>
              <a:t> 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101" name="Google Shape;101;g397e7bb5097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7e7bb5097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97e7bb5097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補上相關研究，以及他們可能有的缺點或少考量到的地方，所以作者才提出這個框架和LLM</a:t>
            </a:r>
            <a:endParaRPr b="1"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FF0000"/>
              </a:solidFill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SMILE</a:t>
            </a:r>
            <a:r>
              <a:rPr b="1" lang="zh-TW" sz="1200">
                <a:solidFill>
                  <a:schemeClr val="dk1"/>
                </a:solidFill>
              </a:rPr>
              <a:t>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使用 PsyQA 等單輪對話資料，設計一個特定 prompt 引導 ChatGPT 扮演心理學家和對話改寫者，將單輪對話改寫為至少十輪以上的多輪心理健康對話(SMILEChat dataset)，並用來微調ChatGLM2-6B  (得到MeChat )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SoulChat</a:t>
            </a:r>
            <a:r>
              <a:rPr lang="zh-TW" sz="1200">
                <a:solidFill>
                  <a:schemeClr val="dk1"/>
                </a:solidFill>
              </a:rPr>
              <a:t>：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透過資料外包服務收集大量中文心理諮詢的單輪問答資料，然後借鑒 SMILE 方法，設計一個強化了共情（包含傾聽、安慰、理解、信任等表達）的特定提示，用 ChatGPT 將這些單輪對話轉換為多輪共情對話；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對 ChatGPT 生成的多輪對話進行人工校對，特別強化共情能力，去建立超過兩百萬個樣本的 SoulChatCorpus；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對 ChatGLM-6B 等大型語言模型進行微調，顯著提升其在心理諮詢中的共情、傾聽和安慰能力</a:t>
            </a:r>
            <a:r>
              <a:rPr lang="zh-TW">
                <a:solidFill>
                  <a:schemeClr val="dk1"/>
                </a:solidFill>
              </a:rPr>
              <a:t>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(有點像是延伸並強化SMILE的做法，且用了比較多的資料。)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2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CPsyCoun</a:t>
            </a:r>
            <a:r>
              <a:rPr lang="zh-TW" sz="1200">
                <a:solidFill>
                  <a:schemeClr val="dk1"/>
                </a:solidFill>
              </a:rPr>
              <a:t>：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透過名為 Memo2Demo </a:t>
            </a:r>
            <a:r>
              <a:rPr b="1" lang="zh-TW">
                <a:solidFill>
                  <a:schemeClr val="dk1"/>
                </a:solidFill>
              </a:rPr>
              <a:t>兩階段方法</a:t>
            </a:r>
            <a:r>
              <a:rPr lang="zh-TW">
                <a:solidFill>
                  <a:schemeClr val="dk1"/>
                </a:solidFill>
              </a:rPr>
              <a:t>，從匿名的心理諮詢報告中重建</a:t>
            </a:r>
            <a:r>
              <a:rPr b="1" lang="zh-TW">
                <a:solidFill>
                  <a:schemeClr val="dk1"/>
                </a:solidFill>
              </a:rPr>
              <a:t>高品質的多輪對話資料集 </a:t>
            </a:r>
            <a:r>
              <a:rPr b="1"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CPsyCounD</a:t>
            </a:r>
            <a:r>
              <a:rPr lang="zh-TW">
                <a:solidFill>
                  <a:schemeClr val="dk1"/>
                </a:solidFill>
              </a:rPr>
              <a:t>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將報告轉換為諮詢筆記並在專業諮詢框架(詢問、診斷、諮詢、總結回顧) 下生成對話；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利用GPT-4依照制定好的評估標準當作prompt去評估單輪的表現，最後把所有單輪分數進行平均，得出多輪的分數。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最後在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CPsyCounD</a:t>
            </a:r>
            <a:r>
              <a:rPr lang="zh-TW">
                <a:solidFill>
                  <a:schemeClr val="dk1"/>
                </a:solidFill>
              </a:rPr>
              <a:t> 資料集上</a:t>
            </a:r>
            <a:r>
              <a:rPr b="1" lang="zh-TW">
                <a:solidFill>
                  <a:schemeClr val="dk1"/>
                </a:solidFill>
              </a:rPr>
              <a:t>微調 InternLM2-7B-Chat  (得到CPsyCounX)</a:t>
            </a:r>
            <a:r>
              <a:rPr lang="zh-TW">
                <a:solidFill>
                  <a:schemeClr val="dk1"/>
                </a:solidFill>
              </a:rPr>
              <a:t> 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110" name="Google Shape;110;g397e7bb5097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7e7bb5097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97e7bb5097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9" name="Google Shape;119;g397e7bb5097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e7bb5097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97e7bb5097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從SoulchatCorpus，選了5000筆單輪資料，且涵蓋了12個不同主題。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需要先有他們想要的資料集，所以他們先提出一個準備資料的方法 (PsyDT框架)。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然後...，所以有了資料集後，去對LLM做多輪微調，得到他們最後提出的PsyDTLLM。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從單輪對話(從SoulChat Corpus多輪同理心對話資料集，抓取出5000個高品質的單輪對話)中，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找到特定主題的諮詢師範例(每個主題會有一個諮商師案例)(這些範例是作者們透過實際訪談去得到的真實案例)，擷取他的語意風格(沒有特別的理論基礎所以沒有建成知識庫，由GPT主觀判別)、治療方法(符合RBGT的理論基礎且有知識庫，會特別先檢索再放進prompt: 從現有知識庫，檢索出與範例中類似的療法)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從來訪者的問題，擷取他的人格特質(根據big-five人格特質區分)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最後包成一個prompt，合成出多輪資料集PsyDT Corpus，再用此去多輪微調出PsyDTLLM。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(使用 GPT-4 依照 "單輪對話+[諮詢師的語言風格、諮詢師的治療技術(再從治療型態KB檢索出對應療法)、客戶人格]+[情緒引導+回應引導]+該主題的一則真實個案"，去改寫生成多輪對話。)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28" name="Google Shape;128;g397e7bb5097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7e7bb5097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97e7bb5097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7" name="Google Shape;147;g397e7bb5097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7e7bb5097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97e7bb5097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2" name="Google Shape;162;g397e7bb5097_0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7e7bb5097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97e7bb5097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利用 PsyDT Corpus 微調，得到 PsyDTLLM 之後，他們想探討以下的問題。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前面三個是他們想知道他們的合成資料集的方法有沒有比別人好。最後一個是使用這個資料集微調的LLM，和其他模型比，表現如何。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In summary, we address the following research questions (RQs):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• RQ1: How similar is the synthesized multiturn dialogues dataset with real-world counseling cases of specific counselor?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• RQ2: What is the performance of PsyDTCorpus as compared with baseline datasets?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• RQ3: Do the different components in the multi-turn dialogues synthesis method of PsyDT synthesize the corresponding effect of PsyDTCorpus?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• RQ4: What is the performance of PsyDTLLM as compared with baseline LLMs?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1" name="Google Shape;171;g397e7bb5097_0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7e7bb5097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97e7bb5097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8" name="Google Shape;178;g397e7bb5097_0_1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7e7bb5097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97e7bb5097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去看這兩個方法的內容，稍微介紹一下:(放在相關研究那邊講)</a:t>
            </a:r>
            <a:endParaRPr b="1"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SoulChat_Prompt </a:t>
            </a:r>
            <a:r>
              <a:rPr lang="zh-TW" sz="1200">
                <a:solidFill>
                  <a:srgbClr val="FF0000"/>
                </a:solidFill>
                <a:highlight>
                  <a:srgbClr val="D9EAD3"/>
                </a:highlight>
              </a:rPr>
              <a:t>（其他多輪對話合成方法）</a:t>
            </a:r>
            <a:endParaRPr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Smile_Prompt</a:t>
            </a:r>
            <a:r>
              <a:rPr lang="zh-TW" sz="1200">
                <a:solidFill>
                  <a:srgbClr val="FF0000"/>
                </a:solidFill>
                <a:highlight>
                  <a:srgbClr val="D9EAD3"/>
                </a:highlight>
              </a:rPr>
              <a:t>（其他多輪對話合成方法）</a:t>
            </a:r>
            <a:endParaRPr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評估的部分: 會給模型，他們設計好的標準，0%~25%、25%~50%、50%~75%、75%~100%，各%數範圍代表什麼標準。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模型會給一個%數，然後附上理由。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87" name="Google Shape;187;g397e7bb5097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7e7bb5097_0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97e7bb5097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去看這兩個方法的內容，稍微介紹一下:(放在相關研究那邊講)</a:t>
            </a:r>
            <a:endParaRPr b="1"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SoulChat_Prompt </a:t>
            </a:r>
            <a:r>
              <a:rPr lang="zh-TW" sz="1200">
                <a:solidFill>
                  <a:srgbClr val="FF0000"/>
                </a:solidFill>
                <a:highlight>
                  <a:srgbClr val="D9EAD3"/>
                </a:highlight>
              </a:rPr>
              <a:t>（其他多輪對話合成方法）</a:t>
            </a:r>
            <a:endParaRPr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Smile_Prompt</a:t>
            </a:r>
            <a:r>
              <a:rPr lang="zh-TW" sz="1200">
                <a:solidFill>
                  <a:srgbClr val="FF0000"/>
                </a:solidFill>
                <a:highlight>
                  <a:srgbClr val="D9EAD3"/>
                </a:highlight>
              </a:rPr>
              <a:t>（其他多輪對話合成方法）</a:t>
            </a:r>
            <a:endParaRPr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zh-TW" sz="1200">
                <a:solidFill>
                  <a:schemeClr val="dk1"/>
                </a:solidFill>
              </a:rPr>
              <a:t>評估的部分: 會給模型，他們設計好的標準，0%~25%、25%~50%、50%~75%、75%~100%，各%數範圍代表什麼標準。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ts val="1100"/>
              <a:buNone/>
            </a:pPr>
            <a:r>
              <a:rPr lang="zh-TW" sz="1200">
                <a:solidFill>
                  <a:schemeClr val="dk1"/>
                </a:solidFill>
              </a:rPr>
              <a:t>模型會給一個%數，然後附上理由。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01" name="Google Shape;201;g397e7bb5097_0_1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7e7bb5097_0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97e7bb5097_0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去看這兩個方法的內容，稍微介紹一下:(放在相關研究那邊講)</a:t>
            </a:r>
            <a:endParaRPr b="1"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SoulChat_Prompt </a:t>
            </a:r>
            <a:r>
              <a:rPr lang="zh-TW" sz="1200">
                <a:solidFill>
                  <a:srgbClr val="FF0000"/>
                </a:solidFill>
                <a:highlight>
                  <a:srgbClr val="D9EAD3"/>
                </a:highlight>
              </a:rPr>
              <a:t>（其他多輪對話合成方法）</a:t>
            </a:r>
            <a:endParaRPr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FF0000"/>
                </a:solidFill>
                <a:highlight>
                  <a:srgbClr val="D9EAD3"/>
                </a:highlight>
              </a:rPr>
              <a:t>Smile_Prompt</a:t>
            </a:r>
            <a:r>
              <a:rPr lang="zh-TW" sz="1200">
                <a:solidFill>
                  <a:srgbClr val="FF0000"/>
                </a:solidFill>
                <a:highlight>
                  <a:srgbClr val="D9EAD3"/>
                </a:highlight>
              </a:rPr>
              <a:t>（其他多輪對話合成方法）</a:t>
            </a:r>
            <a:endParaRPr sz="1200">
              <a:solidFill>
                <a:srgbClr val="FF0000"/>
              </a:solidFill>
              <a:highlight>
                <a:srgbClr val="D9EAD3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評估的部分: 會給模型，他們設計好的標準，0%~25%、25%~50%、50%~75%、75%~100%，各%數範圍代表什麼標準。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模型會給一個%數，然後附上理由。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14" name="Google Shape;214;g397e7bb5097_0_1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7e7bb5097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97e7bb5097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表格統計欄位：</a:t>
            </a:r>
            <a:r>
              <a:rPr b="1" lang="zh-TW">
                <a:solidFill>
                  <a:schemeClr val="dk1"/>
                </a:solidFill>
              </a:rPr>
              <a:t>Open.</a:t>
            </a:r>
            <a:r>
              <a:rPr lang="zh-TW">
                <a:solidFill>
                  <a:schemeClr val="dk1"/>
                </a:solidFill>
              </a:rPr>
              <a:t>（是否開放）、</a:t>
            </a:r>
            <a:r>
              <a:rPr b="1" lang="zh-TW">
                <a:solidFill>
                  <a:schemeClr val="dk1"/>
                </a:solidFill>
              </a:rPr>
              <a:t>Size</a:t>
            </a:r>
            <a:r>
              <a:rPr lang="zh-TW">
                <a:solidFill>
                  <a:schemeClr val="dk1"/>
                </a:solidFill>
              </a:rPr>
              <a:t>、</a:t>
            </a:r>
            <a:r>
              <a:rPr b="1" lang="zh-TW">
                <a:solidFill>
                  <a:schemeClr val="dk1"/>
                </a:solidFill>
              </a:rPr>
              <a:t>NoT</a:t>
            </a:r>
            <a:r>
              <a:rPr lang="zh-TW">
                <a:solidFill>
                  <a:schemeClr val="dk1"/>
                </a:solidFill>
              </a:rPr>
              <a:t>（平均輪數）、</a:t>
            </a:r>
            <a:r>
              <a:rPr b="1" lang="zh-TW">
                <a:solidFill>
                  <a:schemeClr val="dk1"/>
                </a:solidFill>
              </a:rPr>
              <a:t>LoC/LoP</a:t>
            </a:r>
            <a:r>
              <a:rPr lang="zh-TW">
                <a:solidFill>
                  <a:schemeClr val="dk1"/>
                </a:solidFill>
              </a:rPr>
              <a:t>（來談者/諮商師平均字數）、以及能力指標 </a:t>
            </a:r>
            <a:r>
              <a:rPr b="1" lang="zh-TW">
                <a:solidFill>
                  <a:schemeClr val="dk1"/>
                </a:solidFill>
              </a:rPr>
              <a:t>EmoE.</a:t>
            </a:r>
            <a:r>
              <a:rPr lang="zh-TW">
                <a:solidFill>
                  <a:schemeClr val="dk1"/>
                </a:solidFill>
              </a:rPr>
              <a:t>（情緒同理）、</a:t>
            </a:r>
            <a:r>
              <a:rPr b="1" lang="zh-TW">
                <a:solidFill>
                  <a:schemeClr val="dk1"/>
                </a:solidFill>
              </a:rPr>
              <a:t>CogE.</a:t>
            </a:r>
            <a:r>
              <a:rPr lang="zh-TW">
                <a:solidFill>
                  <a:schemeClr val="dk1"/>
                </a:solidFill>
              </a:rPr>
              <a:t>（認知同理）、</a:t>
            </a:r>
            <a:r>
              <a:rPr b="1" lang="zh-TW">
                <a:solidFill>
                  <a:schemeClr val="dk1"/>
                </a:solidFill>
              </a:rPr>
              <a:t>TheT.</a:t>
            </a:r>
            <a:r>
              <a:rPr lang="zh-TW">
                <a:solidFill>
                  <a:schemeClr val="dk1"/>
                </a:solidFill>
              </a:rPr>
              <a:t>（治療技法）。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專家人工評分</a:t>
            </a:r>
            <a:r>
              <a:rPr lang="zh-TW">
                <a:solidFill>
                  <a:schemeClr val="dk1"/>
                </a:solidFill>
              </a:rPr>
              <a:t>（五位心理相關背景評審）：</a:t>
            </a:r>
            <a:r>
              <a:rPr b="1" lang="zh-TW">
                <a:solidFill>
                  <a:schemeClr val="dk1"/>
                </a:solidFill>
              </a:rPr>
              <a:t>Con.</a:t>
            </a:r>
            <a:r>
              <a:rPr lang="zh-TW">
                <a:solidFill>
                  <a:schemeClr val="dk1"/>
                </a:solidFill>
              </a:rPr>
              <a:t>（對話策略）、</a:t>
            </a:r>
            <a:r>
              <a:rPr b="1" lang="zh-TW">
                <a:solidFill>
                  <a:schemeClr val="dk1"/>
                </a:solidFill>
              </a:rPr>
              <a:t>Sta.</a:t>
            </a:r>
            <a:r>
              <a:rPr lang="zh-TW">
                <a:solidFill>
                  <a:schemeClr val="dk1"/>
                </a:solidFill>
              </a:rPr>
              <a:t>（狀態與態度）、</a:t>
            </a:r>
            <a:r>
              <a:rPr b="1" lang="zh-TW">
                <a:solidFill>
                  <a:schemeClr val="dk1"/>
                </a:solidFill>
              </a:rPr>
              <a:t>Rel.</a:t>
            </a:r>
            <a:r>
              <a:rPr lang="zh-TW">
                <a:solidFill>
                  <a:schemeClr val="dk1"/>
                </a:solidFill>
              </a:rPr>
              <a:t>（關係建立）、</a:t>
            </a:r>
            <a:r>
              <a:rPr b="1" lang="zh-TW">
                <a:solidFill>
                  <a:schemeClr val="dk1"/>
                </a:solidFill>
              </a:rPr>
              <a:t>App.</a:t>
            </a:r>
            <a:r>
              <a:rPr lang="zh-TW">
                <a:solidFill>
                  <a:schemeClr val="dk1"/>
                </a:solidFill>
              </a:rPr>
              <a:t>（治療技術應用），並額外評 </a:t>
            </a:r>
            <a:r>
              <a:rPr b="1" lang="zh-TW">
                <a:solidFill>
                  <a:schemeClr val="dk1"/>
                </a:solidFill>
              </a:rPr>
              <a:t>Flu.</a:t>
            </a:r>
            <a:r>
              <a:rPr lang="zh-TW">
                <a:solidFill>
                  <a:schemeClr val="dk1"/>
                </a:solidFill>
              </a:rPr>
              <a:t>（流暢度）與 </a:t>
            </a:r>
            <a:r>
              <a:rPr b="1" lang="zh-TW">
                <a:solidFill>
                  <a:schemeClr val="dk1"/>
                </a:solidFill>
              </a:rPr>
              <a:t>Saf.</a:t>
            </a:r>
            <a:r>
              <a:rPr lang="zh-TW">
                <a:solidFill>
                  <a:schemeClr val="dk1"/>
                </a:solidFill>
              </a:rPr>
              <a:t>（安全）；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量尺：Con/Sta/Rel/App 為 0–10 分，Flu 為 0/1；。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7" name="Google Shape;227;g397e7bb5097_0_1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7e7bb5097_0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97e7bb5097_0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6" name="Google Shape;236;g397e7bb5097_0_1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97e7bb5097_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97e7bb5097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00"/>
                </a:solidFill>
              </a:rPr>
              <a:t>每個值的範圍，是如何被定義?  -&gt;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u="sng">
                <a:solidFill>
                  <a:schemeClr val="hlink"/>
                </a:solidFill>
                <a:hlinkClick r:id="rId2"/>
              </a:rPr>
              <a:t>https://mycollegenotebook.medium.com/rouge-%E8%A9%95%E4%BC%B0%E6%96%B9%E6%B3%95-%E8%87%AA%E5%8B%95%E6%96%87%E6%9C%AC%E6%91%98%E8%A6%81-8d9e9516698b</a:t>
            </a:r>
            <a:r>
              <a:rPr lang="zh-TW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precision分母是 正確答案  -&gt;  正確答案中我對了幾個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recall分母是我的答案   -&gt; 我的答案中包含多少正確答案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最長共同子序列(不需要連續，共同的子序列就可)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300">
                <a:solidFill>
                  <a:schemeClr val="dk1"/>
                </a:solidFill>
              </a:rPr>
              <a:t>最佳匹配 (max similarity) 的意思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BERTScore 計算方式：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對 </a:t>
            </a:r>
            <a:r>
              <a:rPr b="1" lang="zh-TW">
                <a:solidFill>
                  <a:schemeClr val="dk1"/>
                </a:solidFill>
              </a:rPr>
              <a:t>生成句</a:t>
            </a:r>
            <a:r>
              <a:rPr lang="zh-TW">
                <a:solidFill>
                  <a:schemeClr val="dk1"/>
                </a:solidFill>
              </a:rPr>
              <a:t>裡的每個詞 wc​，去找 </a:t>
            </a:r>
            <a:r>
              <a:rPr b="1" lang="zh-TW">
                <a:solidFill>
                  <a:schemeClr val="dk1"/>
                </a:solidFill>
              </a:rPr>
              <a:t>參考句</a:t>
            </a:r>
            <a:r>
              <a:rPr lang="zh-TW">
                <a:solidFill>
                  <a:schemeClr val="dk1"/>
                </a:solidFill>
              </a:rPr>
              <a:t>裡最相近的一個詞 wr​。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透過 </a:t>
            </a:r>
            <a:r>
              <a:rPr b="1" lang="zh-TW">
                <a:solidFill>
                  <a:schemeClr val="dk1"/>
                </a:solidFill>
              </a:rPr>
              <a:t>cosine similarity</a:t>
            </a:r>
            <a:r>
              <a:rPr lang="zh-TW">
                <a:solidFill>
                  <a:schemeClr val="dk1"/>
                </a:solidFill>
              </a:rPr>
              <a:t>（餘弦相似度）。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例： "kitten" → 最相似的是 "cat"，"adorable" → 最相似的是 "cute"。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計算這些「最大相似度」的平均值。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這樣確保每個生成詞都找到一個「最好的對應」。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讓生成文本和參考文本之間，互相對應到最相似的詞之後，去算precision、recall 然後得出F1 score。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https://www.wbolt.com/tw/bertscore-a-contextual-metric-for-llm-evaluation.html</a:t>
            </a:r>
            <a:r>
              <a:rPr lang="zh-TW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4" name="Google Shape;244;g397e7bb5097_0_1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7e7bb5097_0_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97e7bb5097_0_1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50">
                <a:solidFill>
                  <a:schemeClr val="dk1"/>
                </a:solidFill>
              </a:rPr>
              <a:t>那些給LLM的評分Prompt，來源參考: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50">
                <a:solidFill>
                  <a:schemeClr val="dk1"/>
                </a:solidFill>
              </a:rPr>
              <a:t>對於評估微調模型 PsyDTLLM 專業性能（RQ4）的提示，研究人員依據專業心理學領域的標準，總結了評估維度。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50">
                <a:solidFill>
                  <a:schemeClr val="dk1"/>
                </a:solidFill>
              </a:rPr>
              <a:t>• </a:t>
            </a:r>
            <a:r>
              <a:rPr b="1" lang="zh-TW" sz="1050">
                <a:solidFill>
                  <a:schemeClr val="dk1"/>
                </a:solidFill>
              </a:rPr>
              <a:t>專業評估維度的參考來源：</a:t>
            </a:r>
            <a:r>
              <a:rPr lang="zh-TW" sz="1050">
                <a:solidFill>
                  <a:schemeClr val="dk1"/>
                </a:solidFill>
              </a:rPr>
              <a:t> 為了確保評估的準確性和專業性，研究人員根據 </a:t>
            </a:r>
            <a:r>
              <a:rPr b="1" lang="zh-TW" sz="1050">
                <a:solidFill>
                  <a:schemeClr val="dk1"/>
                </a:solidFill>
              </a:rPr>
              <a:t>Swank and Lambie, 2012</a:t>
            </a:r>
            <a:r>
              <a:rPr lang="zh-TW" sz="1050">
                <a:solidFill>
                  <a:schemeClr val="dk1"/>
                </a:solidFill>
              </a:rPr>
              <a:t> 和 </a:t>
            </a:r>
            <a:r>
              <a:rPr b="1" lang="zh-TW" sz="1050">
                <a:solidFill>
                  <a:schemeClr val="dk1"/>
                </a:solidFill>
              </a:rPr>
              <a:t>Association et al., 2012</a:t>
            </a:r>
            <a:r>
              <a:rPr lang="zh-TW" sz="1050">
                <a:solidFill>
                  <a:schemeClr val="dk1"/>
                </a:solidFill>
              </a:rPr>
              <a:t> 的參考資料，總結了四個專業評估維度。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50">
                <a:solidFill>
                  <a:schemeClr val="dk1"/>
                </a:solidFill>
              </a:rPr>
              <a:t>    ◦ 這些維度包括：</a:t>
            </a:r>
            <a:r>
              <a:rPr lang="zh-TW" sz="1050">
                <a:solidFill>
                  <a:schemeClr val="dk1"/>
                </a:solidFill>
                <a:highlight>
                  <a:srgbClr val="FCE5CD"/>
                </a:highlight>
              </a:rPr>
              <a:t>會話策略（Conversation Strategy, Con.）</a:t>
            </a:r>
            <a:r>
              <a:rPr lang="zh-TW" sz="1050">
                <a:solidFill>
                  <a:schemeClr val="dk1"/>
                </a:solidFill>
              </a:rPr>
              <a:t>、</a:t>
            </a:r>
            <a:r>
              <a:rPr lang="zh-TW" sz="1050">
                <a:solidFill>
                  <a:schemeClr val="dk1"/>
                </a:solidFill>
                <a:highlight>
                  <a:srgbClr val="FCE5CD"/>
                </a:highlight>
              </a:rPr>
              <a:t>狀態與態度（State and Attitude, Sta.）</a:t>
            </a:r>
            <a:r>
              <a:rPr lang="zh-TW" sz="1050">
                <a:solidFill>
                  <a:schemeClr val="dk1"/>
                </a:solidFill>
              </a:rPr>
              <a:t>、關係建立（Relationship Building, Rel.）以及療癒技術的應用（Application of Therapy Technique, App.）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50">
                <a:solidFill>
                  <a:schemeClr val="dk1"/>
                </a:solidFill>
              </a:rPr>
              <a:t>• </a:t>
            </a:r>
            <a:r>
              <a:rPr b="1" lang="zh-TW" sz="1050">
                <a:solidFill>
                  <a:schemeClr val="dk1"/>
                </a:solidFill>
              </a:rPr>
              <a:t>同理心指標的依據：</a:t>
            </a:r>
            <a:r>
              <a:rPr lang="zh-TW" sz="1050">
                <a:solidFill>
                  <a:schemeClr val="dk1"/>
                </a:solidFill>
              </a:rPr>
              <a:t> 在設計</a:t>
            </a:r>
            <a:r>
              <a:rPr lang="zh-TW" sz="1050">
                <a:solidFill>
                  <a:schemeClr val="dk1"/>
                </a:solidFill>
                <a:highlight>
                  <a:srgbClr val="FCE5CD"/>
                </a:highlight>
              </a:rPr>
              <a:t>情緒同理心（Emotional Empathy, EmoE.）</a:t>
            </a:r>
            <a:r>
              <a:rPr lang="zh-TW" sz="1050">
                <a:solidFill>
                  <a:schemeClr val="dk1"/>
                </a:solidFill>
              </a:rPr>
              <a:t>和</a:t>
            </a:r>
            <a:r>
              <a:rPr lang="zh-TW" sz="1050">
                <a:solidFill>
                  <a:schemeClr val="dk1"/>
                </a:solidFill>
                <a:highlight>
                  <a:srgbClr val="FCE5CD"/>
                </a:highlight>
              </a:rPr>
              <a:t>認知同理心（Cognitive Empathy, CogE.）</a:t>
            </a:r>
            <a:r>
              <a:rPr lang="zh-TW" sz="1050">
                <a:solidFill>
                  <a:schemeClr val="dk1"/>
                </a:solidFill>
              </a:rPr>
              <a:t>的評估提示時，特別是針對</a:t>
            </a:r>
            <a:r>
              <a:rPr b="1" lang="zh-TW" sz="1050">
                <a:solidFill>
                  <a:schemeClr val="dk1"/>
                </a:solidFill>
              </a:rPr>
              <a:t>認知同理心</a:t>
            </a:r>
            <a:r>
              <a:rPr lang="zh-TW" sz="1050">
                <a:solidFill>
                  <a:schemeClr val="dk1"/>
                </a:solidFill>
              </a:rPr>
              <a:t>的定義，研究提及了 </a:t>
            </a:r>
            <a:r>
              <a:rPr b="1" lang="zh-TW" sz="1050">
                <a:solidFill>
                  <a:schemeClr val="dk1"/>
                </a:solidFill>
              </a:rPr>
              <a:t>Preston and De Waal, 2002</a:t>
            </a:r>
            <a:r>
              <a:rPr lang="zh-TW" sz="1050">
                <a:solidFill>
                  <a:schemeClr val="dk1"/>
                </a:solidFill>
              </a:rPr>
              <a:t> 的相關工作。認知同理心被定義為理解和識別他人情緒狀態的能力，依賴於對他人思維、信念、意圖和情緒的理性理解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9" name="Google Shape;259;g397e7bb5097_0_1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7e7bb5097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97e7bb5097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7" name="Google Shape;267;g397e7bb5097_0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7e7bb5097_0_1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97e7bb5097_0_1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6" name="Google Shape;276;g397e7bb5097_0_1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7e7bb5097_0_2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97e7bb5097_0_2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LLM-as-Judge 的評估偏差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雖然 GPT-4o 與 Claude 3.5 具備一定理解力，但使用 LLM 進行風格與治療技術評估，可能因 prompt wording 與模型偏好產生結構性偏差。若缺乏「多模型共識」或「人類校正機制」，此評估可能高估了 PsyDTCorpus 的真實相似度（約70%）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消融實驗的範圍不足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消融測試僅移除三個組件（語言風格、治療技法、人格），且樣本只有隨機抽取 16 組，樣本數太少，很難能下定論。而且可能抽到同個主題的樣本，有可能某個主題的樣本就會需要三個組件的某一項，所以才會導致論文中的結果。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LLM-as-judge</a:t>
            </a:r>
            <a:r>
              <a:rPr lang="zh-TW">
                <a:solidFill>
                  <a:schemeClr val="dk1"/>
                </a:solidFill>
              </a:rPr>
              <a:t>和</a:t>
            </a:r>
            <a:r>
              <a:rPr b="1" lang="zh-TW">
                <a:solidFill>
                  <a:schemeClr val="dk1"/>
                </a:solidFill>
              </a:rPr>
              <a:t>專家人工評分都屬於間接評估（proxy evaluation）</a:t>
            </a:r>
            <a:r>
              <a:rPr lang="zh-TW">
                <a:solidFill>
                  <a:schemeClr val="dk1"/>
                </a:solidFill>
              </a:rPr>
              <a:t>，無法反映</a:t>
            </a:r>
            <a:r>
              <a:rPr b="1" lang="zh-TW">
                <a:solidFill>
                  <a:schemeClr val="dk1"/>
                </a:solidFill>
              </a:rPr>
              <a:t>實際使用體驗與情緒影響</a:t>
            </a:r>
            <a:endParaRPr/>
          </a:p>
        </p:txBody>
      </p:sp>
      <p:sp>
        <p:nvSpPr>
          <p:cNvPr id="283" name="Google Shape;283;g397e7bb5097_0_2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7e7bb5097_0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97e7bb5097_0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g397e7bb5097_0_2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clanthology.org/2024.findings-emnlp.34.pdf" TargetMode="External"/><Relationship Id="rId4" Type="http://schemas.openxmlformats.org/officeDocument/2006/relationships/hyperlink" Target="https://aclanthology.org/2023.findings-emnlp.83.pdf" TargetMode="External"/><Relationship Id="rId5" Type="http://schemas.openxmlformats.org/officeDocument/2006/relationships/image" Target="../media/image4.png"/><Relationship Id="rId6" Type="http://schemas.openxmlformats.org/officeDocument/2006/relationships/hyperlink" Target="https://aclanthology.org/2024.findings-emnlp.34/" TargetMode="External"/><Relationship Id="rId7" Type="http://schemas.openxmlformats.org/officeDocument/2006/relationships/hyperlink" Target="https://aclanthology.org/2023.findings-emnlp.83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clanthology.org/2024.findings-acl.830.pdf" TargetMode="External"/><Relationship Id="rId4" Type="http://schemas.openxmlformats.org/officeDocument/2006/relationships/image" Target="../media/image26.png"/><Relationship Id="rId5" Type="http://schemas.openxmlformats.org/officeDocument/2006/relationships/hyperlink" Target="https://aclanthology.org/2024.findings-acl.830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hyperlink" Target="https://hackmd.io/@YungHuiHsu/SyIdBun4a" TargetMode="External"/><Relationship Id="rId6" Type="http://schemas.openxmlformats.org/officeDocument/2006/relationships/image" Target="../media/image20.png"/><Relationship Id="rId7" Type="http://schemas.openxmlformats.org/officeDocument/2006/relationships/image" Target="../media/image19.png"/><Relationship Id="rId8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g397e7bb509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50" y="470950"/>
            <a:ext cx="9015114" cy="30733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397e7bb5097_0_0"/>
          <p:cNvSpPr/>
          <p:nvPr/>
        </p:nvSpPr>
        <p:spPr>
          <a:xfrm flipH="1" rot="10800000">
            <a:off x="491638" y="4218761"/>
            <a:ext cx="8027400" cy="19500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97e7bb5097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8" name="Google Shape;58;g397e7bb5097_0_0"/>
          <p:cNvSpPr txBox="1"/>
          <p:nvPr/>
        </p:nvSpPr>
        <p:spPr>
          <a:xfrm>
            <a:off x="376425" y="307425"/>
            <a:ext cx="451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zh-TW" sz="2400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合成式影像生成-期中論文報告</a:t>
            </a:r>
            <a:endParaRPr b="0" i="0" sz="24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59" name="Google Shape;59;g397e7bb5097_0_0"/>
          <p:cNvSpPr/>
          <p:nvPr/>
        </p:nvSpPr>
        <p:spPr>
          <a:xfrm flipH="1" rot="10800000">
            <a:off x="444499" y="781700"/>
            <a:ext cx="4145100" cy="34200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97e7bb5097_0_0"/>
          <p:cNvSpPr txBox="1"/>
          <p:nvPr/>
        </p:nvSpPr>
        <p:spPr>
          <a:xfrm>
            <a:off x="1476775" y="4494911"/>
            <a:ext cx="6190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zh-TW" sz="2000">
                <a:solidFill>
                  <a:schemeClr val="dk1"/>
                </a:solidFill>
                <a:highlight>
                  <a:srgbClr val="FFFFFF"/>
                </a:highlight>
                <a:latin typeface="DFKai-SB"/>
                <a:ea typeface="DFKai-SB"/>
                <a:cs typeface="DFKai-SB"/>
                <a:sym typeface="DFKai-SB"/>
              </a:rPr>
              <a:t>組別:第九組  組員</a:t>
            </a:r>
            <a:r>
              <a:rPr b="0" i="0" lang="zh-TW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DFKai-SB"/>
                <a:ea typeface="DFKai-SB"/>
                <a:cs typeface="DFKai-SB"/>
                <a:sym typeface="DFKai-SB"/>
              </a:rPr>
              <a:t>:</a:t>
            </a:r>
            <a:r>
              <a:rPr lang="zh-TW" sz="2000">
                <a:solidFill>
                  <a:schemeClr val="dk1"/>
                </a:solidFill>
                <a:highlight>
                  <a:schemeClr val="lt1"/>
                </a:highlight>
                <a:latin typeface="DFKai-SB"/>
                <a:ea typeface="DFKai-SB"/>
                <a:cs typeface="DFKai-SB"/>
                <a:sym typeface="DFKai-SB"/>
              </a:rPr>
              <a:t>林鼎翔、許哲瑜</a:t>
            </a:r>
            <a:endParaRPr b="0" i="0" sz="2000" u="none" cap="none" strike="noStrike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61" name="Google Shape;61;g397e7bb5097_0_0"/>
          <p:cNvSpPr txBox="1"/>
          <p:nvPr/>
        </p:nvSpPr>
        <p:spPr>
          <a:xfrm>
            <a:off x="1353550" y="3561900"/>
            <a:ext cx="664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July 27 - August 1, 2025 ©2025 Association for Computational Linguistics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7e7bb5097_0_8"/>
          <p:cNvSpPr txBox="1"/>
          <p:nvPr/>
        </p:nvSpPr>
        <p:spPr>
          <a:xfrm>
            <a:off x="489925" y="489463"/>
            <a:ext cx="301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Report Outline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g397e7bb5097_0_8"/>
          <p:cNvSpPr txBox="1"/>
          <p:nvPr/>
        </p:nvSpPr>
        <p:spPr>
          <a:xfrm>
            <a:off x="1683275" y="1261275"/>
            <a:ext cx="69708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Research Motivation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Preparation &amp; Model Fine-tuning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Research Questions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Method &amp; Experimental Results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 &amp; Personal Refletion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g397e7bb5097_0_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7e7bb5097_0_15"/>
          <p:cNvSpPr txBox="1"/>
          <p:nvPr/>
        </p:nvSpPr>
        <p:spPr>
          <a:xfrm>
            <a:off x="2906700" y="2083500"/>
            <a:ext cx="336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1.	Research Motivation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g397e7bb5097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77" name="Google Shape;77;g397e7bb5097_0_15"/>
          <p:cNvCxnSpPr>
            <a:endCxn id="75" idx="1"/>
          </p:cNvCxnSpPr>
          <p:nvPr/>
        </p:nvCxnSpPr>
        <p:spPr>
          <a:xfrm>
            <a:off x="-209400" y="2360550"/>
            <a:ext cx="3116100" cy="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8" name="Google Shape;78;g397e7bb5097_0_15"/>
          <p:cNvCxnSpPr>
            <a:stCxn id="75" idx="3"/>
          </p:cNvCxnSpPr>
          <p:nvPr/>
        </p:nvCxnSpPr>
        <p:spPr>
          <a:xfrm>
            <a:off x="6272100" y="2360550"/>
            <a:ext cx="3081300" cy="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97e7bb5097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350" y="1229599"/>
            <a:ext cx="4537225" cy="2642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97e7bb5097_0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86" name="Google Shape;86;g397e7bb5097_0_23"/>
          <p:cNvGrpSpPr/>
          <p:nvPr/>
        </p:nvGrpSpPr>
        <p:grpSpPr>
          <a:xfrm>
            <a:off x="106725" y="885800"/>
            <a:ext cx="5040900" cy="3238500"/>
            <a:chOff x="-80200" y="876275"/>
            <a:chExt cx="5040900" cy="3238500"/>
          </a:xfrm>
        </p:grpSpPr>
        <p:sp>
          <p:nvSpPr>
            <p:cNvPr id="87" name="Google Shape;87;g397e7bb5097_0_23"/>
            <p:cNvSpPr txBox="1"/>
            <p:nvPr/>
          </p:nvSpPr>
          <p:spPr>
            <a:xfrm>
              <a:off x="-80200" y="876275"/>
              <a:ext cx="5040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7500" lvl="0" marL="45720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Char char="❏"/>
              </a:pPr>
              <a:r>
                <a:rPr b="1" lang="zh-TW">
                  <a:solidFill>
                    <a:schemeClr val="dk1"/>
                  </a:solidFill>
                </a:rPr>
                <a:t>研究動機</a:t>
              </a:r>
              <a:endParaRPr sz="1200">
                <a:solidFill>
                  <a:schemeClr val="dk1"/>
                </a:solidFill>
              </a:endParaRPr>
            </a:p>
            <a:p>
              <a:pPr indent="-304800" lvl="0" marL="45720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lang="zh-TW" sz="1200">
                  <a:solidFill>
                    <a:schemeClr val="dk1"/>
                  </a:solidFill>
                </a:rPr>
                <a:t>多輪對話的心理健康資料難以取得，多數基於LLM的心理健康研究都須透過合成，來取得多輪對話資料。</a:t>
              </a:r>
              <a:endParaRPr b="1">
                <a:solidFill>
                  <a:schemeClr val="dk1"/>
                </a:solidFill>
              </a:endParaRPr>
            </a:p>
            <a:p>
              <a:pPr indent="-304800" lvl="0" marL="45720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●"/>
              </a:pPr>
              <a:r>
                <a:rPr lang="zh-TW" sz="1200">
                  <a:solidFill>
                    <a:schemeClr val="dk1"/>
                  </a:solidFill>
                </a:rPr>
                <a:t>現有的心理健康諮詢系統，將 LLMs 在混合多種諮詢風格的多輪心理健康對話資料集上進行微調。</a:t>
              </a:r>
              <a:endParaRPr sz="1200">
                <a:solidFill>
                  <a:schemeClr val="dk1"/>
                </a:solidFill>
              </a:endParaRPr>
            </a:p>
            <a:p>
              <a:pPr indent="457200" lvl="0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</a:endParaRPr>
            </a:p>
            <a:p>
              <a:pPr indent="0" lvl="0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>
                  <a:solidFill>
                    <a:schemeClr val="dk1"/>
                  </a:solidFill>
                </a:rPr>
                <a:t>        LLM的回應不穩定，無法調整成特定的回應風格</a:t>
              </a:r>
              <a:endParaRPr b="1" sz="1200">
                <a:solidFill>
                  <a:schemeClr val="dk1"/>
                </a:solidFill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Char char="❏"/>
              </a:pPr>
              <a:r>
                <a:rPr b="1" lang="zh-TW">
                  <a:solidFill>
                    <a:schemeClr val="dk1"/>
                  </a:solidFill>
                </a:rPr>
                <a:t>研究目標</a:t>
              </a:r>
              <a:endParaRPr b="1">
                <a:solidFill>
                  <a:schemeClr val="dk1"/>
                </a:solidFill>
              </a:endParaRPr>
            </a:p>
            <a:p>
              <a:pPr indent="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>
                  <a:solidFill>
                    <a:schemeClr val="dk1"/>
                  </a:solidFill>
                </a:rPr>
                <a:t>利用 LLMs 構建 "具有特定諮詢風格的心理諮詢師"。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88" name="Google Shape;88;g397e7bb5097_0_23"/>
            <p:cNvSpPr/>
            <p:nvPr/>
          </p:nvSpPr>
          <p:spPr>
            <a:xfrm>
              <a:off x="629950" y="3027688"/>
              <a:ext cx="548700" cy="284100"/>
            </a:xfrm>
            <a:prstGeom prst="rightArrow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7e7bb5097_0_32"/>
          <p:cNvSpPr txBox="1"/>
          <p:nvPr/>
        </p:nvSpPr>
        <p:spPr>
          <a:xfrm>
            <a:off x="2906700" y="2083500"/>
            <a:ext cx="336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2.	Related Work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g397e7bb5097_0_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96" name="Google Shape;96;g397e7bb5097_0_32"/>
          <p:cNvCxnSpPr>
            <a:endCxn id="94" idx="1"/>
          </p:cNvCxnSpPr>
          <p:nvPr/>
        </p:nvCxnSpPr>
        <p:spPr>
          <a:xfrm>
            <a:off x="-209400" y="2360550"/>
            <a:ext cx="3116100" cy="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7" name="Google Shape;97;g397e7bb5097_0_32"/>
          <p:cNvCxnSpPr>
            <a:stCxn id="94" idx="3"/>
          </p:cNvCxnSpPr>
          <p:nvPr/>
        </p:nvCxnSpPr>
        <p:spPr>
          <a:xfrm>
            <a:off x="6272100" y="2360550"/>
            <a:ext cx="3081300" cy="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7e7bb5097_0_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4" name="Google Shape;104;g397e7bb5097_0_40"/>
          <p:cNvSpPr txBox="1"/>
          <p:nvPr/>
        </p:nvSpPr>
        <p:spPr>
          <a:xfrm>
            <a:off x="191025" y="555900"/>
            <a:ext cx="82212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❏"/>
            </a:pPr>
            <a:r>
              <a:rPr b="1" lang="zh-TW" sz="12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SMILE</a:t>
            </a:r>
            <a:r>
              <a:rPr b="1" baseline="30000" lang="zh-TW" sz="1300">
                <a:solidFill>
                  <a:schemeClr val="dk1"/>
                </a:solidFill>
              </a:rPr>
              <a:t>1</a:t>
            </a:r>
            <a:endParaRPr b="1" baseline="30000" sz="13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TW" sz="1100">
                <a:solidFill>
                  <a:schemeClr val="dk1"/>
                </a:solidFill>
              </a:rPr>
              <a:t>使用 PsyQA 等單輪對話資料</a:t>
            </a:r>
            <a:endParaRPr sz="1100"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 sz="1100">
                <a:solidFill>
                  <a:schemeClr val="dk1"/>
                </a:solidFill>
              </a:rPr>
              <a:t>透過設計 Prompt 讓 ChatGPT 扮演心理學家</a:t>
            </a:r>
            <a:endParaRPr sz="1100"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 sz="1100">
                <a:solidFill>
                  <a:schemeClr val="dk1"/>
                </a:solidFill>
              </a:rPr>
              <a:t>把單輪對話擴寫成十輪以上的多輪心理健康對話</a:t>
            </a:r>
            <a:endParaRPr sz="1100"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 sz="1100">
                <a:solidFill>
                  <a:schemeClr val="dk1"/>
                </a:solidFill>
              </a:rPr>
              <a:t>建立了 SMILEChat 資料集並用來微調 ChatGLM2-6B</a:t>
            </a:r>
            <a:endParaRPr sz="11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❏"/>
            </a:pPr>
            <a:r>
              <a:rPr b="1" lang="zh-TW" sz="12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SoulChat</a:t>
            </a:r>
            <a:r>
              <a:rPr b="1" baseline="30000" lang="zh-TW" sz="1300">
                <a:solidFill>
                  <a:schemeClr val="dk1"/>
                </a:solidFill>
              </a:rPr>
              <a:t>2</a:t>
            </a:r>
            <a:endParaRPr b="1" baseline="30000" sz="1300"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 sz="1100">
                <a:solidFill>
                  <a:schemeClr val="dk1"/>
                </a:solidFill>
              </a:rPr>
              <a:t>外包收集大量心理諮詢單輪中文</a:t>
            </a:r>
            <a:r>
              <a:rPr lang="zh-TW" sz="1100">
                <a:solidFill>
                  <a:schemeClr val="dk1"/>
                </a:solidFill>
              </a:rPr>
              <a:t>對話</a:t>
            </a:r>
            <a:endParaRPr sz="1100"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 sz="1100">
                <a:solidFill>
                  <a:schemeClr val="dk1"/>
                </a:solidFill>
              </a:rPr>
              <a:t>借鑑 SMILE 方法設計 Prompt 讓 ChatGPT 生成多輪對話</a:t>
            </a:r>
            <a:endParaRPr sz="1100"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 sz="1100">
                <a:solidFill>
                  <a:schemeClr val="dk1"/>
                </a:solidFill>
              </a:rPr>
              <a:t>特別強化共情表達且經過人工檢驗，建立 SoulChatCorpus</a:t>
            </a:r>
            <a:endParaRPr sz="1100"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 sz="1100">
                <a:solidFill>
                  <a:schemeClr val="dk1"/>
                </a:solidFill>
              </a:rPr>
              <a:t>微調 ChatGLM-6B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5" name="Google Shape;105;g397e7bb5097_0_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2275" y="1301800"/>
            <a:ext cx="3531875" cy="2063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" name="Google Shape;106;g397e7bb5097_0_40"/>
          <p:cNvSpPr txBox="1"/>
          <p:nvPr/>
        </p:nvSpPr>
        <p:spPr>
          <a:xfrm>
            <a:off x="0" y="4410900"/>
            <a:ext cx="87972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800"/>
              <a:buFont typeface="Times New Roman"/>
              <a:buAutoNum type="arabicPeriod"/>
            </a:pPr>
            <a:r>
              <a:rPr lang="zh-TW" sz="8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Huachuan Qiu, Hongliang He, Shuai Zhang, Anqi Li, and Zhenzhong Lan. 2024. </a:t>
            </a:r>
            <a:r>
              <a:rPr lang="zh-TW" sz="800">
                <a:solidFill>
                  <a:srgbClr val="446E9B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SMILE: Single-turn to Multi-turn Inclusive Language Expansion via ChatGPT for Mental Health Support</a:t>
            </a:r>
            <a:r>
              <a:rPr lang="zh-TW" sz="8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In </a:t>
            </a:r>
            <a:r>
              <a:rPr i="1" lang="zh-TW" sz="8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Findings of the Association for Computational Linguistics: EMNLP 2024</a:t>
            </a:r>
            <a:r>
              <a:rPr lang="zh-TW" sz="8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pages 615–636, Miami, Florida, USA. Association for Computational Linguistics.</a:t>
            </a:r>
            <a:endParaRPr sz="800">
              <a:solidFill>
                <a:srgbClr val="21252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800"/>
              <a:buFont typeface="Times New Roman"/>
              <a:buAutoNum type="arabicPeriod"/>
            </a:pPr>
            <a:r>
              <a:rPr lang="zh-TW" sz="8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Yirong Chen, Xiaofen Xing, Jingkai Lin, Huimin Zheng, Zhenyu Wang, Qi Liu, and Xiangmin Xu. 2023. </a:t>
            </a:r>
            <a:r>
              <a:rPr lang="zh-TW" sz="800">
                <a:solidFill>
                  <a:srgbClr val="446E9B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SoulChat: Improving LLMs’ Empathy, Listening, and Comfort Abilities through Fine-tuning with Multi-turn Empathy Conversations</a:t>
            </a:r>
            <a:r>
              <a:rPr lang="zh-TW" sz="8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In </a:t>
            </a:r>
            <a:r>
              <a:rPr i="1" lang="zh-TW" sz="8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Findings of the Association for Computational Linguistics: EMNLP 2023</a:t>
            </a:r>
            <a:r>
              <a:rPr lang="zh-TW" sz="8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pages 1170–1183, Singapore. Association for Computational Linguistics.</a:t>
            </a:r>
            <a:endParaRPr sz="800">
              <a:solidFill>
                <a:srgbClr val="21252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7e7bb5097_0_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3" name="Google Shape;113;g397e7bb5097_0_48"/>
          <p:cNvSpPr txBox="1"/>
          <p:nvPr/>
        </p:nvSpPr>
        <p:spPr>
          <a:xfrm>
            <a:off x="89600" y="1523713"/>
            <a:ext cx="4092900" cy="1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b="1" lang="zh-TW" sz="12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CPsyCoun</a:t>
            </a:r>
            <a:r>
              <a:rPr b="1" baseline="30000" lang="zh-TW" sz="1300">
                <a:solidFill>
                  <a:schemeClr val="dk1"/>
                </a:solidFill>
              </a:rPr>
              <a:t>1</a:t>
            </a:r>
            <a:endParaRPr b="1" baseline="30000" sz="1300"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 sz="1100">
                <a:solidFill>
                  <a:schemeClr val="dk1"/>
                </a:solidFill>
              </a:rPr>
              <a:t>使用 GLM-4 先把匿名諮詢報告轉換出諮詢筆記</a:t>
            </a:r>
            <a:endParaRPr sz="1100"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 sz="1100">
                <a:solidFill>
                  <a:schemeClr val="dk1"/>
                </a:solidFill>
              </a:rPr>
              <a:t>再生成符合諮詢步驟 (詢問、診斷、諮商、總結) 的多輪對話 CPsyCounD</a:t>
            </a:r>
            <a:endParaRPr sz="1100"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●"/>
            </a:pPr>
            <a:r>
              <a:rPr lang="zh-TW" sz="1100">
                <a:solidFill>
                  <a:schemeClr val="dk1"/>
                </a:solidFill>
              </a:rPr>
              <a:t>在 CPsyCounD 資料上微調 InternLM2-7B-Chat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4" name="Google Shape;114;g397e7bb5097_0_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2500" y="1095025"/>
            <a:ext cx="4788800" cy="295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97e7bb5097_0_48"/>
          <p:cNvSpPr txBox="1"/>
          <p:nvPr/>
        </p:nvSpPr>
        <p:spPr>
          <a:xfrm>
            <a:off x="0" y="4564525"/>
            <a:ext cx="8651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800"/>
              <a:buFont typeface="Times New Roman"/>
              <a:buAutoNum type="arabicPeriod"/>
            </a:pPr>
            <a:r>
              <a:rPr lang="zh-TW" sz="8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Chenhao Zhang, Renhao Li, Minghuan Tan, Min Yang, Jingwei Zhu, Di Yang, Jiahao Zhao, Guancheng Ye, Chengming Li, and Xiping Hu. 2024. </a:t>
            </a:r>
            <a:r>
              <a:rPr lang="zh-TW" sz="800">
                <a:solidFill>
                  <a:srgbClr val="446E9B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CPsyCoun: A Report-based Multi-turn Dialogue Reconstruction and Evaluation Framework for Chinese Psychological Counseling</a:t>
            </a:r>
            <a:r>
              <a:rPr lang="zh-TW" sz="8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In </a:t>
            </a:r>
            <a:r>
              <a:rPr i="1" lang="zh-TW" sz="8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Findings of the Association for Computational Linguistics: ACL 2024</a:t>
            </a:r>
            <a:r>
              <a:rPr lang="zh-TW" sz="8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pages 13947–13966, Bangkok, Thailand. Association for Computational Linguistics.</a:t>
            </a:r>
            <a:endParaRPr sz="400">
              <a:solidFill>
                <a:srgbClr val="21252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7e7bb5097_0_56"/>
          <p:cNvSpPr txBox="1"/>
          <p:nvPr/>
        </p:nvSpPr>
        <p:spPr>
          <a:xfrm>
            <a:off x="1673400" y="2083500"/>
            <a:ext cx="579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3.	Data Preparation &amp; Model Fine-tuning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g397e7bb5097_0_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123" name="Google Shape;123;g397e7bb5097_0_56"/>
          <p:cNvCxnSpPr>
            <a:endCxn id="121" idx="1"/>
          </p:cNvCxnSpPr>
          <p:nvPr/>
        </p:nvCxnSpPr>
        <p:spPr>
          <a:xfrm>
            <a:off x="-1442700" y="2360550"/>
            <a:ext cx="3116100" cy="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24" name="Google Shape;124;g397e7bb5097_0_56"/>
          <p:cNvCxnSpPr>
            <a:stCxn id="121" idx="3"/>
          </p:cNvCxnSpPr>
          <p:nvPr/>
        </p:nvCxnSpPr>
        <p:spPr>
          <a:xfrm>
            <a:off x="7470600" y="2360550"/>
            <a:ext cx="3081300" cy="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g397e7bb5097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1825" y="5294925"/>
            <a:ext cx="2398600" cy="226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97e7bb5097_0_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32" name="Google Shape;132;g397e7bb5097_0_64"/>
          <p:cNvGrpSpPr/>
          <p:nvPr/>
        </p:nvGrpSpPr>
        <p:grpSpPr>
          <a:xfrm>
            <a:off x="1102427" y="781260"/>
            <a:ext cx="7370031" cy="3678094"/>
            <a:chOff x="1093652" y="713810"/>
            <a:chExt cx="7370031" cy="3678094"/>
          </a:xfrm>
        </p:grpSpPr>
        <p:grpSp>
          <p:nvGrpSpPr>
            <p:cNvPr id="133" name="Google Shape;133;g397e7bb5097_0_64"/>
            <p:cNvGrpSpPr/>
            <p:nvPr/>
          </p:nvGrpSpPr>
          <p:grpSpPr>
            <a:xfrm>
              <a:off x="1093652" y="713810"/>
              <a:ext cx="6725926" cy="3678094"/>
              <a:chOff x="3395913" y="795225"/>
              <a:chExt cx="6810375" cy="3724275"/>
            </a:xfrm>
          </p:grpSpPr>
          <p:grpSp>
            <p:nvGrpSpPr>
              <p:cNvPr id="134" name="Google Shape;134;g397e7bb5097_0_64"/>
              <p:cNvGrpSpPr/>
              <p:nvPr/>
            </p:nvGrpSpPr>
            <p:grpSpPr>
              <a:xfrm>
                <a:off x="3395913" y="795225"/>
                <a:ext cx="6810375" cy="3724275"/>
                <a:chOff x="3395913" y="795225"/>
                <a:chExt cx="6810375" cy="3724275"/>
              </a:xfrm>
            </p:grpSpPr>
            <p:grpSp>
              <p:nvGrpSpPr>
                <p:cNvPr id="135" name="Google Shape;135;g397e7bb5097_0_64"/>
                <p:cNvGrpSpPr/>
                <p:nvPr/>
              </p:nvGrpSpPr>
              <p:grpSpPr>
                <a:xfrm>
                  <a:off x="3395913" y="795225"/>
                  <a:ext cx="6810375" cy="3724275"/>
                  <a:chOff x="5019963" y="-2607962"/>
                  <a:chExt cx="6810375" cy="3724275"/>
                </a:xfrm>
              </p:grpSpPr>
              <p:pic>
                <p:nvPicPr>
                  <p:cNvPr id="136" name="Google Shape;136;g397e7bb5097_0_64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5019963" y="-2607962"/>
                    <a:ext cx="6810375" cy="37242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37" name="Google Shape;137;g397e7bb5097_0_64"/>
                  <p:cNvSpPr/>
                  <p:nvPr/>
                </p:nvSpPr>
                <p:spPr>
                  <a:xfrm>
                    <a:off x="8951750" y="364000"/>
                    <a:ext cx="1128900" cy="287400"/>
                  </a:xfrm>
                  <a:prstGeom prst="rect">
                    <a:avLst/>
                  </a:prstGeom>
                  <a:noFill/>
                  <a:ln cap="flat" cmpd="sng" w="28225">
                    <a:solidFill>
                      <a:srgbClr val="FF99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0300" lIns="90300" spcFirstLastPara="1" rIns="90300" wrap="square" tIns="9030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82"/>
                  </a:p>
                </p:txBody>
              </p:sp>
              <p:sp>
                <p:nvSpPr>
                  <p:cNvPr id="138" name="Google Shape;138;g397e7bb5097_0_64"/>
                  <p:cNvSpPr txBox="1"/>
                  <p:nvPr/>
                </p:nvSpPr>
                <p:spPr>
                  <a:xfrm>
                    <a:off x="8670794" y="621929"/>
                    <a:ext cx="1690800" cy="398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0300" lIns="90300" spcFirstLastPara="1" rIns="90300" wrap="square" tIns="9030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zh-TW" sz="1185">
                        <a:solidFill>
                          <a:srgbClr val="FF9900"/>
                        </a:solidFill>
                      </a:rPr>
                      <a:t>直接放進prompt</a:t>
                    </a:r>
                    <a:endParaRPr b="1" sz="1185">
                      <a:solidFill>
                        <a:srgbClr val="FF9900"/>
                      </a:solidFill>
                    </a:endParaRPr>
                  </a:p>
                </p:txBody>
              </p:sp>
            </p:grpSp>
            <p:sp>
              <p:nvSpPr>
                <p:cNvPr id="139" name="Google Shape;139;g397e7bb5097_0_64"/>
                <p:cNvSpPr/>
                <p:nvPr/>
              </p:nvSpPr>
              <p:spPr>
                <a:xfrm>
                  <a:off x="7315311" y="2159482"/>
                  <a:ext cx="1141200" cy="287400"/>
                </a:xfrm>
                <a:prstGeom prst="rect">
                  <a:avLst/>
                </a:prstGeom>
                <a:noFill/>
                <a:ln cap="flat" cmpd="sng" w="28225">
                  <a:solidFill>
                    <a:srgbClr val="FF99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0300" lIns="90300" spcFirstLastPara="1" rIns="90300" wrap="square" tIns="903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82"/>
                </a:p>
              </p:txBody>
            </p:sp>
          </p:grpSp>
          <p:sp>
            <p:nvSpPr>
              <p:cNvPr id="140" name="Google Shape;140;g397e7bb5097_0_64"/>
              <p:cNvSpPr txBox="1"/>
              <p:nvPr/>
            </p:nvSpPr>
            <p:spPr>
              <a:xfrm>
                <a:off x="5404500" y="1432675"/>
                <a:ext cx="1121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0300" lIns="90300" spcFirstLastPara="1" rIns="90300" wrap="square" tIns="903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382">
                    <a:solidFill>
                      <a:srgbClr val="FF0000"/>
                    </a:solidFill>
                  </a:rPr>
                  <a:t>GPT-4</a:t>
                </a:r>
                <a:endParaRPr b="1" sz="1382">
                  <a:solidFill>
                    <a:srgbClr val="FF0000"/>
                  </a:solidFill>
                </a:endParaRPr>
              </a:p>
            </p:txBody>
          </p:sp>
          <p:sp>
            <p:nvSpPr>
              <p:cNvPr id="141" name="Google Shape;141;g397e7bb5097_0_64"/>
              <p:cNvSpPr txBox="1"/>
              <p:nvPr/>
            </p:nvSpPr>
            <p:spPr>
              <a:xfrm>
                <a:off x="5502338" y="3688439"/>
                <a:ext cx="1121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0300" lIns="90300" spcFirstLastPara="1" rIns="90300" wrap="square" tIns="903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382">
                    <a:solidFill>
                      <a:srgbClr val="FF0000"/>
                    </a:solidFill>
                  </a:rPr>
                  <a:t>GPT-4</a:t>
                </a:r>
                <a:endParaRPr b="1" sz="1382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42" name="Google Shape;142;g397e7bb5097_0_64"/>
            <p:cNvSpPr txBox="1"/>
            <p:nvPr/>
          </p:nvSpPr>
          <p:spPr>
            <a:xfrm>
              <a:off x="7355783" y="2737680"/>
              <a:ext cx="1107900" cy="36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300" lIns="90300" spcFirstLastPara="1" rIns="90300" wrap="square" tIns="903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200">
                  <a:solidFill>
                    <a:srgbClr val="0033A1"/>
                  </a:solidFill>
                </a:rPr>
                <a:t>多輪微調</a:t>
              </a:r>
              <a:endParaRPr b="1" sz="1200">
                <a:solidFill>
                  <a:srgbClr val="0033A1"/>
                </a:solidFill>
              </a:endParaRPr>
            </a:p>
          </p:txBody>
        </p:sp>
      </p:grpSp>
      <p:sp>
        <p:nvSpPr>
          <p:cNvPr id="143" name="Google Shape;143;g397e7bb5097_0_64"/>
          <p:cNvSpPr txBox="1"/>
          <p:nvPr/>
        </p:nvSpPr>
        <p:spPr>
          <a:xfrm>
            <a:off x="394125" y="607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❏"/>
            </a:pPr>
            <a:r>
              <a:rPr b="1" lang="zh-TW">
                <a:solidFill>
                  <a:schemeClr val="dk1"/>
                </a:solidFill>
              </a:rPr>
              <a:t>主要架構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97e7bb5097_0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00300" y="5381975"/>
            <a:ext cx="77724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97e7bb5097_0_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5250" y="5381975"/>
            <a:ext cx="7962900" cy="50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97e7bb5097_0_82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4276875" y="-3352000"/>
            <a:ext cx="4276874" cy="349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97e7bb5097_0_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3762500" y="547025"/>
            <a:ext cx="3463500" cy="300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97e7bb5097_0_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4" name="Google Shape;154;g397e7bb5097_0_82"/>
          <p:cNvSpPr txBox="1"/>
          <p:nvPr/>
        </p:nvSpPr>
        <p:spPr>
          <a:xfrm>
            <a:off x="445050" y="583313"/>
            <a:ext cx="80274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❏"/>
            </a:pPr>
            <a:r>
              <a:rPr b="1" lang="zh-TW">
                <a:solidFill>
                  <a:schemeClr val="dk1"/>
                </a:solidFill>
              </a:rPr>
              <a:t>多輪微調</a:t>
            </a:r>
            <a:endParaRPr b="1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❏"/>
            </a:pPr>
            <a:r>
              <a:rPr lang="zh-TW" sz="1200">
                <a:solidFill>
                  <a:schemeClr val="dk1"/>
                </a:solidFill>
              </a:rPr>
              <a:t>以 Qwen2-7B-Instruct 當作 base model 去微調。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❏"/>
            </a:pPr>
            <a:r>
              <a:rPr lang="zh-TW" sz="1200">
                <a:solidFill>
                  <a:schemeClr val="dk1"/>
                </a:solidFill>
              </a:rPr>
              <a:t>模型在訓練中會根據對話歷史 c&lt;i (第 i 輪之前的對話) 來預測諮詢師的第 i 輪回應 ŷi，並拿 ŷi 去計算與實際回應 yi 之間的 loss。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155" name="Google Shape;155;g397e7bb5097_0_82"/>
          <p:cNvGrpSpPr/>
          <p:nvPr/>
        </p:nvGrpSpPr>
        <p:grpSpPr>
          <a:xfrm>
            <a:off x="2393867" y="2011948"/>
            <a:ext cx="4739108" cy="2468477"/>
            <a:chOff x="2301225" y="2029000"/>
            <a:chExt cx="4541551" cy="2365575"/>
          </a:xfrm>
        </p:grpSpPr>
        <p:pic>
          <p:nvPicPr>
            <p:cNvPr id="156" name="Google Shape;156;g397e7bb5097_0_8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301225" y="2029000"/>
              <a:ext cx="4541551" cy="2365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g397e7bb5097_0_82"/>
            <p:cNvSpPr/>
            <p:nvPr/>
          </p:nvSpPr>
          <p:spPr>
            <a:xfrm>
              <a:off x="3529975" y="3035450"/>
              <a:ext cx="1610100" cy="294900"/>
            </a:xfrm>
            <a:prstGeom prst="ellipse">
              <a:avLst/>
            </a:prstGeom>
            <a:noFill/>
            <a:ln cap="flat" cmpd="sng" w="99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400" lIns="95400" spcFirstLastPara="1" rIns="95400" wrap="square" tIns="95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0"/>
            </a:p>
          </p:txBody>
        </p:sp>
        <p:cxnSp>
          <p:nvCxnSpPr>
            <p:cNvPr id="158" name="Google Shape;158;g397e7bb5097_0_82"/>
            <p:cNvCxnSpPr/>
            <p:nvPr/>
          </p:nvCxnSpPr>
          <p:spPr>
            <a:xfrm flipH="1" rot="10800000">
              <a:off x="4710350" y="2798775"/>
              <a:ext cx="112800" cy="248400"/>
            </a:xfrm>
            <a:prstGeom prst="straightConnector1">
              <a:avLst/>
            </a:prstGeom>
            <a:noFill/>
            <a:ln cap="flat" cmpd="sng" w="99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7e7bb5097_0_96"/>
          <p:cNvSpPr txBox="1"/>
          <p:nvPr/>
        </p:nvSpPr>
        <p:spPr>
          <a:xfrm>
            <a:off x="2839050" y="2083500"/>
            <a:ext cx="346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4.	Research Questions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g397e7bb5097_0_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166" name="Google Shape;166;g397e7bb5097_0_96"/>
          <p:cNvCxnSpPr>
            <a:endCxn id="164" idx="1"/>
          </p:cNvCxnSpPr>
          <p:nvPr/>
        </p:nvCxnSpPr>
        <p:spPr>
          <a:xfrm>
            <a:off x="-277050" y="2360550"/>
            <a:ext cx="3116100" cy="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67" name="Google Shape;167;g397e7bb5097_0_96"/>
          <p:cNvCxnSpPr>
            <a:stCxn id="164" idx="3"/>
          </p:cNvCxnSpPr>
          <p:nvPr/>
        </p:nvCxnSpPr>
        <p:spPr>
          <a:xfrm>
            <a:off x="6304950" y="2360550"/>
            <a:ext cx="3081300" cy="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7e7bb5097_0_104"/>
          <p:cNvSpPr txBox="1"/>
          <p:nvPr/>
        </p:nvSpPr>
        <p:spPr>
          <a:xfrm>
            <a:off x="580400" y="1078650"/>
            <a:ext cx="83187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RQ1</a:t>
            </a:r>
            <a:r>
              <a:rPr lang="zh-TW">
                <a:solidFill>
                  <a:schemeClr val="dk1"/>
                </a:solidFill>
              </a:rPr>
              <a:t>：合成的多輪對話資料集與真實諮商案例之間有多大的相似性？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RQ2</a:t>
            </a:r>
            <a:r>
              <a:rPr lang="zh-TW">
                <a:solidFill>
                  <a:schemeClr val="dk1"/>
                </a:solidFill>
              </a:rPr>
              <a:t>：PsyDTCorpus 的表現與其他多輪對話資料集相比如何？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RQ3</a:t>
            </a:r>
            <a:r>
              <a:rPr lang="zh-TW">
                <a:solidFill>
                  <a:schemeClr val="dk1"/>
                </a:solidFill>
              </a:rPr>
              <a:t>：對於 PsyDTCorpus，PsyDT 的多輪對話合成方法中，每個用來合成的部分是否都有效？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RQ4</a:t>
            </a:r>
            <a:r>
              <a:rPr lang="zh-TW">
                <a:solidFill>
                  <a:schemeClr val="dk1"/>
                </a:solidFill>
              </a:rPr>
              <a:t>：PsyDTLLM 與其他 LLM 相比，效能如何？</a:t>
            </a:r>
            <a:r>
              <a:rPr lang="zh-TW"/>
              <a:t> </a:t>
            </a:r>
            <a:endParaRPr/>
          </a:p>
        </p:txBody>
      </p:sp>
      <p:sp>
        <p:nvSpPr>
          <p:cNvPr id="174" name="Google Shape;174;g397e7bb5097_0_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7e7bb5097_0_110"/>
          <p:cNvSpPr txBox="1"/>
          <p:nvPr/>
        </p:nvSpPr>
        <p:spPr>
          <a:xfrm>
            <a:off x="1974750" y="2083500"/>
            <a:ext cx="519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5.	Method &amp; Experimental Results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397e7bb5097_0_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182" name="Google Shape;182;g397e7bb5097_0_110"/>
          <p:cNvCxnSpPr>
            <a:endCxn id="180" idx="1"/>
          </p:cNvCxnSpPr>
          <p:nvPr/>
        </p:nvCxnSpPr>
        <p:spPr>
          <a:xfrm>
            <a:off x="-1141350" y="2360550"/>
            <a:ext cx="3116100" cy="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3" name="Google Shape;183;g397e7bb5097_0_110"/>
          <p:cNvCxnSpPr>
            <a:stCxn id="180" idx="3"/>
          </p:cNvCxnSpPr>
          <p:nvPr/>
        </p:nvCxnSpPr>
        <p:spPr>
          <a:xfrm>
            <a:off x="7169250" y="2360550"/>
            <a:ext cx="3081300" cy="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7e7bb5097_0_118"/>
          <p:cNvSpPr txBox="1"/>
          <p:nvPr/>
        </p:nvSpPr>
        <p:spPr>
          <a:xfrm>
            <a:off x="106550" y="1012438"/>
            <a:ext cx="949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90" name="Google Shape;190;g397e7bb5097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3950" y="-680775"/>
            <a:ext cx="3017124" cy="248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97e7bb5097_0_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62625" y="1186312"/>
            <a:ext cx="9144000" cy="4103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97e7bb5097_0_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3" name="Google Shape;193;g397e7bb5097_0_118"/>
          <p:cNvSpPr txBox="1"/>
          <p:nvPr/>
        </p:nvSpPr>
        <p:spPr>
          <a:xfrm>
            <a:off x="6337400" y="-3509425"/>
            <a:ext cx="58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4" name="Google Shape;194;g397e7bb5097_0_1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68949" y="1870911"/>
            <a:ext cx="3248050" cy="27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97e7bb5097_0_1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6975700" y="-1996600"/>
            <a:ext cx="6515750" cy="43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97e7bb5097_0_1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7364126" y="2583925"/>
            <a:ext cx="6904175" cy="451897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97e7bb5097_0_118"/>
          <p:cNvSpPr txBox="1"/>
          <p:nvPr/>
        </p:nvSpPr>
        <p:spPr>
          <a:xfrm>
            <a:off x="106550" y="914700"/>
            <a:ext cx="8971800" cy="29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❏"/>
            </a:pPr>
            <a:r>
              <a:rPr b="1" lang="zh-TW">
                <a:solidFill>
                  <a:schemeClr val="dk1"/>
                </a:solidFill>
              </a:rPr>
              <a:t>RQ1</a:t>
            </a:r>
            <a:r>
              <a:rPr lang="zh-TW">
                <a:solidFill>
                  <a:schemeClr val="dk1"/>
                </a:solidFill>
              </a:rPr>
              <a:t>：合成的多輪對話資料集與真實諮商案例之間有多大的相似性？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❏"/>
            </a:pPr>
            <a:r>
              <a:rPr lang="zh-TW" sz="1200">
                <a:solidFill>
                  <a:schemeClr val="dk1"/>
                </a:solidFill>
              </a:rPr>
              <a:t>每個主題隨機抽 </a:t>
            </a:r>
            <a:r>
              <a:rPr b="1" lang="zh-TW" sz="1200">
                <a:solidFill>
                  <a:schemeClr val="dk1"/>
                </a:solidFill>
              </a:rPr>
              <a:t>20 則單輪對話</a:t>
            </a:r>
            <a:r>
              <a:rPr lang="zh-TW" sz="1200">
                <a:solidFill>
                  <a:schemeClr val="dk1"/>
                </a:solidFill>
              </a:rPr>
              <a:t>作為素材，分別用三種方法各自合成對應的</a:t>
            </a:r>
            <a:r>
              <a:rPr b="1" lang="zh-TW" sz="1200">
                <a:solidFill>
                  <a:schemeClr val="dk1"/>
                </a:solidFill>
              </a:rPr>
              <a:t>多輪對話</a:t>
            </a:r>
            <a:r>
              <a:rPr lang="zh-TW" sz="1200">
                <a:solidFill>
                  <a:schemeClr val="dk1"/>
                </a:solidFill>
              </a:rPr>
              <a:t>。</a:t>
            </a:r>
            <a:endParaRPr sz="1200">
              <a:solidFill>
                <a:schemeClr val="dk1"/>
              </a:solidFill>
            </a:endParaRPr>
          </a:p>
          <a:p>
            <a:pPr indent="-304800" lvl="0" marL="1371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zh-TW" sz="1200">
                <a:solidFill>
                  <a:schemeClr val="dk1"/>
                </a:solidFill>
              </a:rPr>
              <a:t>PsyDT_Prompt</a:t>
            </a:r>
            <a:r>
              <a:rPr lang="zh-TW" sz="1200">
                <a:solidFill>
                  <a:schemeClr val="dk1"/>
                </a:solidFill>
              </a:rPr>
              <a:t>（本文方法）</a:t>
            </a:r>
            <a:endParaRPr sz="1200">
              <a:solidFill>
                <a:schemeClr val="dk1"/>
              </a:solidFill>
            </a:endParaRPr>
          </a:p>
          <a:p>
            <a:pPr indent="-304800" lvl="0" marL="1371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zh-TW" sz="1200">
                <a:solidFill>
                  <a:schemeClr val="dk1"/>
                </a:solidFill>
              </a:rPr>
              <a:t>Smile_Prompt</a:t>
            </a:r>
            <a:r>
              <a:rPr lang="zh-TW" sz="1200">
                <a:solidFill>
                  <a:schemeClr val="dk1"/>
                </a:solidFill>
              </a:rPr>
              <a:t>（其他多輪對話合成方法）</a:t>
            </a:r>
            <a:endParaRPr b="1" sz="1200">
              <a:solidFill>
                <a:schemeClr val="dk1"/>
              </a:solidFill>
            </a:endParaRPr>
          </a:p>
          <a:p>
            <a:pPr indent="-304800" lvl="0" marL="1371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zh-TW" sz="1200">
                <a:solidFill>
                  <a:schemeClr val="dk1"/>
                </a:solidFill>
              </a:rPr>
              <a:t>SoulChat_Prompt </a:t>
            </a:r>
            <a:r>
              <a:rPr lang="zh-TW" sz="1200">
                <a:solidFill>
                  <a:schemeClr val="dk1"/>
                </a:solidFill>
              </a:rPr>
              <a:t>（其他多輪對話合成方法）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❏"/>
            </a:pPr>
            <a:r>
              <a:rPr lang="zh-TW" sz="1200">
                <a:solidFill>
                  <a:schemeClr val="dk1"/>
                </a:solidFill>
              </a:rPr>
              <a:t>用 </a:t>
            </a:r>
            <a:r>
              <a:rPr b="1" lang="zh-TW" sz="1200">
                <a:solidFill>
                  <a:schemeClr val="dk1"/>
                </a:solidFill>
              </a:rPr>
              <a:t>"LLM-as-judge"</a:t>
            </a:r>
            <a:r>
              <a:rPr lang="zh-TW" sz="1200">
                <a:solidFill>
                  <a:schemeClr val="dk1"/>
                </a:solidFill>
              </a:rPr>
              <a:t> 評估相似度，請 </a:t>
            </a:r>
            <a:r>
              <a:rPr b="1" lang="zh-TW" sz="1200">
                <a:solidFill>
                  <a:schemeClr val="dk1"/>
                </a:solidFill>
              </a:rPr>
              <a:t>GPT-4o </a:t>
            </a:r>
            <a:r>
              <a:rPr lang="zh-TW" sz="1200">
                <a:solidFill>
                  <a:schemeClr val="dk1"/>
                </a:solidFill>
              </a:rPr>
              <a:t>與 </a:t>
            </a:r>
            <a:r>
              <a:rPr b="1" lang="zh-TW" sz="1200">
                <a:solidFill>
                  <a:schemeClr val="dk1"/>
                </a:solidFill>
              </a:rPr>
              <a:t>Claude 3.5</a:t>
            </a:r>
            <a:r>
              <a:rPr lang="zh-TW" sz="1200">
                <a:solidFill>
                  <a:schemeClr val="dk1"/>
                </a:solidFill>
              </a:rPr>
              <a:t> 對多輪諮詢對話的</a:t>
            </a:r>
            <a:r>
              <a:rPr b="1" lang="zh-TW" sz="1200">
                <a:solidFill>
                  <a:schemeClr val="dk1"/>
                </a:solidFill>
              </a:rPr>
              <a:t>語言風格、治療方法</a:t>
            </a:r>
            <a:r>
              <a:rPr lang="zh-TW" sz="1200">
                <a:solidFill>
                  <a:schemeClr val="dk1"/>
                </a:solidFill>
              </a:rPr>
              <a:t>打分數並取平均。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97e7bb5097_0_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3950" y="-680775"/>
            <a:ext cx="3017124" cy="248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97e7bb5097_0_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62625" y="1186312"/>
            <a:ext cx="9144000" cy="4103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97e7bb5097_0_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6" name="Google Shape;206;g397e7bb5097_0_131"/>
          <p:cNvSpPr txBox="1"/>
          <p:nvPr/>
        </p:nvSpPr>
        <p:spPr>
          <a:xfrm>
            <a:off x="6337400" y="-3509425"/>
            <a:ext cx="58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g397e7bb5097_0_1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68949" y="1870911"/>
            <a:ext cx="3248050" cy="27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97e7bb5097_0_1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34113" y="1156150"/>
            <a:ext cx="5688275" cy="37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97e7bb5097_0_1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7364126" y="2583925"/>
            <a:ext cx="6904175" cy="451897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97e7bb5097_0_131"/>
          <p:cNvSpPr txBox="1"/>
          <p:nvPr/>
        </p:nvSpPr>
        <p:spPr>
          <a:xfrm>
            <a:off x="229563" y="344963"/>
            <a:ext cx="94974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❏"/>
            </a:pPr>
            <a:r>
              <a:rPr b="1" lang="zh-TW">
                <a:solidFill>
                  <a:schemeClr val="dk1"/>
                </a:solidFill>
              </a:rPr>
              <a:t>RQ1</a:t>
            </a:r>
            <a:r>
              <a:rPr lang="zh-TW">
                <a:solidFill>
                  <a:schemeClr val="dk1"/>
                </a:solidFill>
              </a:rPr>
              <a:t>：合成的多輪對話資料集與真實諮商案例之間有多大的相似性？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LLM-as-judge Prompt: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g397e7bb5097_0_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723" y="1317750"/>
            <a:ext cx="4068815" cy="334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97e7bb5097_0_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262" y="1431925"/>
            <a:ext cx="3839025" cy="32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97e7bb5097_0_143"/>
          <p:cNvSpPr txBox="1"/>
          <p:nvPr/>
        </p:nvSpPr>
        <p:spPr>
          <a:xfrm>
            <a:off x="33400" y="358338"/>
            <a:ext cx="94974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❏"/>
            </a:pPr>
            <a:r>
              <a:rPr b="1" lang="zh-TW">
                <a:solidFill>
                  <a:schemeClr val="dk1"/>
                </a:solidFill>
              </a:rPr>
              <a:t>RQ1</a:t>
            </a:r>
            <a:r>
              <a:rPr lang="zh-TW">
                <a:solidFill>
                  <a:schemeClr val="dk1"/>
                </a:solidFill>
              </a:rPr>
              <a:t>：合成的多輪對話資料集與真實諮商案例之間有多大的相似性？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zh-TW">
                <a:solidFill>
                  <a:schemeClr val="dk1"/>
                </a:solidFill>
              </a:rPr>
              <a:t>評估結果: </a:t>
            </a:r>
            <a:r>
              <a:rPr b="1" lang="zh-TW" sz="1200">
                <a:solidFill>
                  <a:schemeClr val="dk1"/>
                </a:solidFill>
              </a:rPr>
              <a:t>在 12 個不同的諮詢主題</a:t>
            </a:r>
            <a:r>
              <a:rPr lang="zh-TW" sz="1200">
                <a:solidFill>
                  <a:schemeClr val="dk1"/>
                </a:solidFill>
              </a:rPr>
              <a:t>下，</a:t>
            </a:r>
            <a:r>
              <a:rPr b="1" lang="zh-TW" sz="1200">
                <a:solidFill>
                  <a:schemeClr val="dk1"/>
                </a:solidFill>
              </a:rPr>
              <a:t>PsyDT_Prompt</a:t>
            </a:r>
            <a:r>
              <a:rPr lang="zh-TW" sz="1200">
                <a:solidFill>
                  <a:schemeClr val="dk1"/>
                </a:solidFill>
              </a:rPr>
              <a:t> 合成的多輪對話和真實對話達到</a:t>
            </a:r>
            <a:r>
              <a:rPr b="1" lang="zh-TW" sz="1200">
                <a:solidFill>
                  <a:schemeClr val="dk1"/>
                </a:solidFill>
              </a:rPr>
              <a:t>約 70% 相似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9" name="Google Shape;219;g397e7bb5097_0_1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62625" y="1186312"/>
            <a:ext cx="9144000" cy="4103077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97e7bb5097_0_1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1" name="Google Shape;221;g397e7bb5097_0_143"/>
          <p:cNvSpPr txBox="1"/>
          <p:nvPr/>
        </p:nvSpPr>
        <p:spPr>
          <a:xfrm>
            <a:off x="6337400" y="-3509425"/>
            <a:ext cx="58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2" name="Google Shape;222;g397e7bb5097_0_1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6975700" y="-1996600"/>
            <a:ext cx="6515750" cy="43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97e7bb5097_0_1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7364126" y="2583925"/>
            <a:ext cx="6904175" cy="451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g397e7bb5097_0_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791" y="1984225"/>
            <a:ext cx="8314358" cy="267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97e7bb5097_0_155"/>
          <p:cNvSpPr txBox="1"/>
          <p:nvPr/>
        </p:nvSpPr>
        <p:spPr>
          <a:xfrm>
            <a:off x="285250" y="502875"/>
            <a:ext cx="8027400" cy="18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❏"/>
            </a:pPr>
            <a:r>
              <a:rPr b="1" lang="zh-TW">
                <a:solidFill>
                  <a:schemeClr val="dk1"/>
                </a:solidFill>
              </a:rPr>
              <a:t>RQ2</a:t>
            </a:r>
            <a:r>
              <a:rPr lang="zh-TW">
                <a:solidFill>
                  <a:schemeClr val="dk1"/>
                </a:solidFill>
              </a:rPr>
              <a:t>：PsyDTCorpus 的表現與其他多輪對話資料集相比如何？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chemeClr val="dk1"/>
                </a:solidFill>
              </a:rPr>
              <a:t>各資料集抽50筆資料，給專家人工評分 </a:t>
            </a:r>
            <a:r>
              <a:rPr lang="zh-TW" sz="1200">
                <a:solidFill>
                  <a:schemeClr val="dk1"/>
                </a:solidFill>
              </a:rPr>
              <a:t>(4 位心理學碩士 + 1 位心理治療師): </a:t>
            </a:r>
            <a:endParaRPr sz="1200">
              <a:solidFill>
                <a:schemeClr val="dk1"/>
              </a:solidFill>
            </a:endParaRPr>
          </a:p>
          <a:p>
            <a:pPr indent="-317500" lvl="0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 sz="1200">
                <a:solidFill>
                  <a:schemeClr val="dk1"/>
                </a:solidFill>
              </a:rPr>
              <a:t>是否含有</a:t>
            </a:r>
            <a:r>
              <a:rPr lang="zh-TW" sz="1100">
                <a:solidFill>
                  <a:schemeClr val="dk1"/>
                </a:solidFill>
              </a:rPr>
              <a:t> EmoE.（情緒同理）、CogE.（認知同理）、TheT.（治療方法）的語料內容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zh-TW" sz="1200">
                <a:solidFill>
                  <a:schemeClr val="dk1"/>
                </a:solidFill>
              </a:rPr>
              <a:t>對話策略 (0~10分)、態度 (0~10分)、關係建立(0~10分)、治療技術應用(0~10分)、流暢度(0~1分)、安全性(是/否)。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1" name="Google Shape;231;g397e7bb5097_0_1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2" name="Google Shape;232;g397e7bb5097_0_155"/>
          <p:cNvSpPr/>
          <p:nvPr/>
        </p:nvSpPr>
        <p:spPr>
          <a:xfrm>
            <a:off x="5858911" y="4209572"/>
            <a:ext cx="2276400" cy="189900"/>
          </a:xfrm>
          <a:prstGeom prst="rect">
            <a:avLst/>
          </a:prstGeom>
          <a:noFill/>
          <a:ln cap="flat" cmpd="sng" w="9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400" lIns="87400" spcFirstLastPara="1" rIns="87400" wrap="square" tIns="8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8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g397e7bb5097_0_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0000" y="1936500"/>
            <a:ext cx="4343250" cy="3026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97e7bb5097_0_163"/>
          <p:cNvSpPr txBox="1"/>
          <p:nvPr/>
        </p:nvSpPr>
        <p:spPr>
          <a:xfrm>
            <a:off x="170400" y="310250"/>
            <a:ext cx="8803200" cy="15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❏"/>
            </a:pPr>
            <a:r>
              <a:rPr b="1" lang="zh-TW">
                <a:solidFill>
                  <a:schemeClr val="dk1"/>
                </a:solidFill>
              </a:rPr>
              <a:t>RQ3</a:t>
            </a:r>
            <a:r>
              <a:rPr lang="zh-TW">
                <a:solidFill>
                  <a:schemeClr val="dk1"/>
                </a:solidFill>
              </a:rPr>
              <a:t>：對於 PsyDTCorpus，PsyDT 的多輪對話合成方法中，每個用來合成的部分是否都有效？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2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❏"/>
            </a:pPr>
            <a:r>
              <a:rPr b="1" lang="zh-TW" sz="1200">
                <a:solidFill>
                  <a:schemeClr val="dk1"/>
                </a:solidFill>
              </a:rPr>
              <a:t>消融實驗：</a:t>
            </a:r>
            <a:r>
              <a:rPr lang="zh-TW" sz="1200">
                <a:solidFill>
                  <a:schemeClr val="dk1"/>
                </a:solidFill>
              </a:rPr>
              <a:t>對 16 組樣本，分別移除 "語言風格"、"治療技法"、"來訪者人格" 其中一個去合成消融版本的多輪對話。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24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❏"/>
            </a:pPr>
            <a:r>
              <a:rPr b="1" lang="zh-TW" sz="1200">
                <a:solidFill>
                  <a:schemeClr val="dk1"/>
                </a:solidFill>
              </a:rPr>
              <a:t>專家人工評分</a:t>
            </a:r>
            <a:r>
              <a:rPr lang="zh-TW" sz="1200">
                <a:solidFill>
                  <a:schemeClr val="dk1"/>
                </a:solidFill>
              </a:rPr>
              <a:t>：讓五位專家在完整版和消融版之間，讓他們投票偏好哪一版本，票多的贏。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40" name="Google Shape;240;g397e7bb5097_0_1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g397e7bb5097_0_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8725" y="734450"/>
            <a:ext cx="4720549" cy="28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97e7bb5097_0_1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248" name="Google Shape;248;g397e7bb5097_0_170"/>
          <p:cNvGrpSpPr/>
          <p:nvPr/>
        </p:nvGrpSpPr>
        <p:grpSpPr>
          <a:xfrm>
            <a:off x="163676" y="823125"/>
            <a:ext cx="8816624" cy="3398700"/>
            <a:chOff x="204526" y="981400"/>
            <a:chExt cx="8816624" cy="3398700"/>
          </a:xfrm>
        </p:grpSpPr>
        <p:sp>
          <p:nvSpPr>
            <p:cNvPr id="249" name="Google Shape;249;g397e7bb5097_0_170"/>
            <p:cNvSpPr txBox="1"/>
            <p:nvPr/>
          </p:nvSpPr>
          <p:spPr>
            <a:xfrm>
              <a:off x="204526" y="981400"/>
              <a:ext cx="8470800" cy="3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75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Char char="❏"/>
              </a:pPr>
              <a:r>
                <a:rPr b="1" lang="zh-TW">
                  <a:solidFill>
                    <a:schemeClr val="dk1"/>
                  </a:solidFill>
                </a:rPr>
                <a:t>RQ4</a:t>
              </a:r>
              <a:r>
                <a:rPr lang="zh-TW">
                  <a:solidFill>
                    <a:schemeClr val="dk1"/>
                  </a:solidFill>
                </a:rPr>
                <a:t>：PsyDTLLM 與其他 LLM 相比，效能如何？ </a:t>
              </a:r>
              <a:r>
                <a:rPr lang="zh-TW" sz="1200">
                  <a:solidFill>
                    <a:schemeClr val="dk1"/>
                  </a:solidFill>
                </a:rPr>
                <a:t>(和多個非開源 LLM、開源 LLM、心理健康相關 LLM 比較)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zh-TW" sz="1200">
                  <a:solidFill>
                    <a:schemeClr val="dk1"/>
                  </a:solidFill>
                </a:rPr>
                <a:t>評估指標：</a:t>
              </a:r>
              <a:endParaRPr b="1" sz="1200">
                <a:solidFill>
                  <a:schemeClr val="dk1"/>
                </a:solidFill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</a:endParaRPr>
            </a:p>
            <a:p>
              <a:pPr indent="-304800" lvl="0" marL="9144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AutoNum type="arabicPeriod"/>
              </a:pPr>
              <a:r>
                <a:rPr b="1" lang="zh-TW" sz="1200">
                  <a:solidFill>
                    <a:schemeClr val="dk1"/>
                  </a:solidFill>
                </a:rPr>
                <a:t>計算生成文本和參考文本的重疊程度</a:t>
              </a:r>
              <a:endParaRPr b="1" sz="1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>
                  <a:solidFill>
                    <a:schemeClr val="dk1"/>
                  </a:solidFill>
                </a:rPr>
                <a:t>		</a:t>
              </a:r>
              <a:r>
                <a:rPr b="1" lang="zh-TW" sz="1200">
                  <a:solidFill>
                    <a:schemeClr val="dk1"/>
                  </a:solidFill>
                </a:rPr>
                <a:t>ROUGE - 1</a:t>
              </a:r>
              <a:r>
                <a:rPr lang="zh-TW" sz="1200">
                  <a:solidFill>
                    <a:schemeClr val="dk1"/>
                  </a:solidFill>
                </a:rPr>
                <a:t>：單個詞的重疊比例 (0~1)</a:t>
              </a:r>
              <a:endParaRPr b="1" sz="1200">
                <a:solidFill>
                  <a:schemeClr val="dk1"/>
                </a:solidFill>
              </a:endParaRPr>
            </a:p>
            <a:p>
              <a:pPr indent="0" lvl="0" marL="9144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200">
                  <a:solidFill>
                    <a:schemeClr val="dk1"/>
                  </a:solidFill>
                </a:rPr>
                <a:t>ROUGE - 2</a:t>
              </a:r>
              <a:r>
                <a:rPr lang="zh-TW" sz="1200">
                  <a:solidFill>
                    <a:schemeClr val="dk1"/>
                  </a:solidFill>
                </a:rPr>
                <a:t>：連續兩個詞的重疊比例 (0~1)</a:t>
              </a:r>
              <a:endParaRPr b="1" sz="1200">
                <a:solidFill>
                  <a:schemeClr val="dk1"/>
                </a:solidFill>
              </a:endParaRPr>
            </a:p>
            <a:p>
              <a:pPr indent="0" lvl="0" marL="9144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200">
                  <a:solidFill>
                    <a:schemeClr val="dk1"/>
                  </a:solidFill>
                </a:rPr>
                <a:t>ROUGE - L</a:t>
              </a:r>
              <a:r>
                <a:rPr lang="zh-TW" sz="1200">
                  <a:solidFill>
                    <a:schemeClr val="dk1"/>
                  </a:solidFill>
                </a:rPr>
                <a:t>：最長共同子序列 (0~1)</a:t>
              </a:r>
              <a:endParaRPr sz="1200">
                <a:solidFill>
                  <a:schemeClr val="dk1"/>
                </a:solidFill>
              </a:endParaRPr>
            </a:p>
            <a:p>
              <a:pPr indent="4572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200">
                  <a:solidFill>
                    <a:schemeClr val="dk1"/>
                  </a:solidFill>
                </a:rPr>
                <a:t>BLEU-4 ：</a:t>
              </a:r>
              <a:r>
                <a:rPr lang="zh-TW" sz="1200">
                  <a:solidFill>
                    <a:schemeClr val="dk1"/>
                  </a:solidFill>
                </a:rPr>
                <a:t>unigram到4-gram的重疊比例再平均</a:t>
              </a:r>
              <a:r>
                <a:rPr b="1" lang="zh-TW" sz="1200">
                  <a:solidFill>
                    <a:schemeClr val="dk1"/>
                  </a:solidFill>
                </a:rPr>
                <a:t> </a:t>
              </a:r>
              <a:r>
                <a:rPr lang="zh-TW" sz="1200">
                  <a:solidFill>
                    <a:schemeClr val="dk1"/>
                  </a:solidFill>
                </a:rPr>
                <a:t>(0~1)</a:t>
              </a:r>
              <a:endParaRPr sz="1200">
                <a:solidFill>
                  <a:schemeClr val="dk1"/>
                </a:solidFill>
              </a:endParaRPr>
            </a:p>
            <a:p>
              <a:pPr indent="457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</a:endParaRPr>
            </a:p>
            <a:p>
              <a:pPr indent="-304800" lvl="0" marL="9144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AutoNum type="arabicPeriod"/>
              </a:pPr>
              <a:r>
                <a:rPr b="1" lang="zh-TW" sz="1200">
                  <a:solidFill>
                    <a:schemeClr val="dk1"/>
                  </a:solidFill>
                </a:rPr>
                <a:t>辨別生成文本和參考文本的語意相似度</a:t>
              </a:r>
              <a:endParaRPr b="1" sz="1200">
                <a:solidFill>
                  <a:schemeClr val="dk1"/>
                </a:solidFill>
              </a:endParaRPr>
            </a:p>
            <a:p>
              <a:pPr indent="0" lvl="0" marL="9144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200">
                  <a:solidFill>
                    <a:schemeClr val="dk1"/>
                  </a:solidFill>
                </a:rPr>
                <a:t>FBERT (BERTScore)</a:t>
              </a:r>
              <a:r>
                <a:rPr lang="zh-TW" sz="1200">
                  <a:solidFill>
                    <a:schemeClr val="dk1"/>
                  </a:solidFill>
                </a:rPr>
                <a:t>：用 BERT 取出兩個文本的 embedding，去計算 cosine similarity，透過 max similarity 匹配之後，會得到 F1 score。</a:t>
              </a:r>
              <a:endParaRPr/>
            </a:p>
          </p:txBody>
        </p:sp>
        <p:sp>
          <p:nvSpPr>
            <p:cNvPr id="250" name="Google Shape;250;g397e7bb5097_0_170"/>
            <p:cNvSpPr txBox="1"/>
            <p:nvPr/>
          </p:nvSpPr>
          <p:spPr>
            <a:xfrm>
              <a:off x="5406150" y="2382925"/>
              <a:ext cx="36150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100">
                  <a:solidFill>
                    <a:schemeClr val="dk1"/>
                  </a:solidFill>
                </a:rPr>
                <a:t>偏重 Recall  (參考答案的詞有多少出現在生成文本裡)</a:t>
              </a:r>
              <a:endParaRPr sz="1100">
                <a:solidFill>
                  <a:schemeClr val="dk1"/>
                </a:solidFill>
              </a:endParaRPr>
            </a:p>
          </p:txBody>
        </p:sp>
        <p:sp>
          <p:nvSpPr>
            <p:cNvPr id="251" name="Google Shape;251;g397e7bb5097_0_170"/>
            <p:cNvSpPr txBox="1"/>
            <p:nvPr/>
          </p:nvSpPr>
          <p:spPr>
            <a:xfrm>
              <a:off x="5406150" y="2945425"/>
              <a:ext cx="36150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100">
                  <a:solidFill>
                    <a:schemeClr val="dk1"/>
                  </a:solidFill>
                </a:rPr>
                <a:t>偏重 Precision</a:t>
              </a:r>
              <a:r>
                <a:rPr b="1" lang="zh-TW" sz="1100">
                  <a:solidFill>
                    <a:schemeClr val="dk1"/>
                  </a:solidFill>
                </a:rPr>
                <a:t> </a:t>
              </a:r>
              <a:r>
                <a:rPr lang="zh-TW" sz="1100">
                  <a:solidFill>
                    <a:schemeClr val="dk1"/>
                  </a:solidFill>
                </a:rPr>
                <a:t>(生成的文字有多少是存在參考答案裡的)</a:t>
              </a:r>
              <a:endParaRPr sz="1100"/>
            </a:p>
          </p:txBody>
        </p:sp>
        <p:cxnSp>
          <p:nvCxnSpPr>
            <p:cNvPr id="252" name="Google Shape;252;g397e7bb5097_0_170"/>
            <p:cNvCxnSpPr>
              <a:endCxn id="250" idx="1"/>
            </p:cNvCxnSpPr>
            <p:nvPr/>
          </p:nvCxnSpPr>
          <p:spPr>
            <a:xfrm>
              <a:off x="4271850" y="2558725"/>
              <a:ext cx="1134300" cy="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3" name="Google Shape;253;g397e7bb5097_0_170"/>
            <p:cNvCxnSpPr>
              <a:endCxn id="251" idx="1"/>
            </p:cNvCxnSpPr>
            <p:nvPr/>
          </p:nvCxnSpPr>
          <p:spPr>
            <a:xfrm flipH="1" rot="10800000">
              <a:off x="4945650" y="3122425"/>
              <a:ext cx="4605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4" name="Google Shape;254;g397e7bb5097_0_170"/>
            <p:cNvSpPr/>
            <p:nvPr/>
          </p:nvSpPr>
          <p:spPr>
            <a:xfrm>
              <a:off x="4064950" y="2279938"/>
              <a:ext cx="207025" cy="647500"/>
            </a:xfrm>
            <a:custGeom>
              <a:rect b="b" l="l" r="r" t="t"/>
              <a:pathLst>
                <a:path extrusionOk="0" h="25900" w="8281">
                  <a:moveTo>
                    <a:pt x="0" y="0"/>
                  </a:moveTo>
                  <a:cubicBezTo>
                    <a:pt x="1376" y="1971"/>
                    <a:pt x="8070" y="7507"/>
                    <a:pt x="8258" y="11824"/>
                  </a:cubicBezTo>
                  <a:cubicBezTo>
                    <a:pt x="8446" y="16141"/>
                    <a:pt x="2315" y="23554"/>
                    <a:pt x="1126" y="2590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255" name="Google Shape;255;g397e7bb5097_0_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244087" y="734450"/>
            <a:ext cx="3838575" cy="32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397e7bb5097_0_1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5376" y="1694175"/>
            <a:ext cx="5123674" cy="30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97e7bb5097_0_184"/>
          <p:cNvSpPr txBox="1"/>
          <p:nvPr/>
        </p:nvSpPr>
        <p:spPr>
          <a:xfrm>
            <a:off x="207150" y="480625"/>
            <a:ext cx="82653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❏"/>
            </a:pPr>
            <a:r>
              <a:rPr b="1" lang="zh-TW">
                <a:solidFill>
                  <a:schemeClr val="dk1"/>
                </a:solidFill>
              </a:rPr>
              <a:t>RQ4</a:t>
            </a:r>
            <a:r>
              <a:rPr lang="zh-TW">
                <a:solidFill>
                  <a:schemeClr val="dk1"/>
                </a:solidFill>
              </a:rPr>
              <a:t>：PsyDTLLM 與其他 LLM 相比，效能如何？ </a:t>
            </a:r>
            <a:endParaRPr/>
          </a:p>
          <a:p>
            <a:pPr indent="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chemeClr val="dk1"/>
                </a:solidFill>
              </a:rPr>
              <a:t>3.    LLM-as-judge評估</a:t>
            </a:r>
            <a:r>
              <a:rPr lang="zh-TW" sz="1200">
                <a:solidFill>
                  <a:schemeClr val="dk1"/>
                </a:solidFill>
              </a:rPr>
              <a:t>：從 12 主題各抽取 20 筆，作者團隊設計具體的評分標準，接著請 GPT-4o 與 Claude 3.5 對 240 筆資料給分，評估情感同理、認知同理、對話策略、態度和安全性，取兩個分數的平均當作最終成績。</a:t>
            </a:r>
            <a:endParaRPr sz="1200"/>
          </a:p>
        </p:txBody>
      </p:sp>
      <p:sp>
        <p:nvSpPr>
          <p:cNvPr id="263" name="Google Shape;263;g397e7bb5097_0_1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7e7bb5097_0_191"/>
          <p:cNvSpPr txBox="1"/>
          <p:nvPr/>
        </p:nvSpPr>
        <p:spPr>
          <a:xfrm>
            <a:off x="1966200" y="2083500"/>
            <a:ext cx="521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6.	Conclusion</a:t>
            </a:r>
            <a:r>
              <a:rPr lang="zh-TW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&amp; Personal Refletion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g397e7bb5097_0_1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271" name="Google Shape;271;g397e7bb5097_0_191"/>
          <p:cNvCxnSpPr>
            <a:endCxn id="269" idx="1"/>
          </p:cNvCxnSpPr>
          <p:nvPr/>
        </p:nvCxnSpPr>
        <p:spPr>
          <a:xfrm>
            <a:off x="-1149900" y="2360550"/>
            <a:ext cx="3116100" cy="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72" name="Google Shape;272;g397e7bb5097_0_191"/>
          <p:cNvCxnSpPr>
            <a:stCxn id="269" idx="3"/>
          </p:cNvCxnSpPr>
          <p:nvPr/>
        </p:nvCxnSpPr>
        <p:spPr>
          <a:xfrm>
            <a:off x="7177800" y="2360550"/>
            <a:ext cx="3081300" cy="0"/>
          </a:xfrm>
          <a:prstGeom prst="straightConnector1">
            <a:avLst/>
          </a:prstGeom>
          <a:noFill/>
          <a:ln cap="flat" cmpd="sng" w="9525">
            <a:solidFill>
              <a:srgbClr val="0033A1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7e7bb5097_0_1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9" name="Google Shape;279;g397e7bb5097_0_199"/>
          <p:cNvSpPr txBox="1"/>
          <p:nvPr/>
        </p:nvSpPr>
        <p:spPr>
          <a:xfrm>
            <a:off x="490625" y="838838"/>
            <a:ext cx="8578200" cy="3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b="1" lang="zh-TW"/>
              <a:t>Conclusion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透過多輪對話合成方法，建立 </a:t>
            </a:r>
            <a:r>
              <a:rPr b="1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PsyDTCorpus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建立 </a:t>
            </a:r>
            <a:r>
              <a:rPr b="1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PsyDT</a:t>
            </a:r>
            <a:r>
              <a:rPr b="1" i="0" lang="zh-TW" sz="1200" u="none" cap="none" strike="noStrike">
                <a:solidFill>
                  <a:srgbClr val="000000"/>
                </a:solidFill>
              </a:rPr>
              <a:t>LLM</a:t>
            </a:r>
            <a:r>
              <a:rPr lang="zh-TW" sz="1200">
                <a:solidFill>
                  <a:srgbClr val="000000"/>
                </a:solidFill>
              </a:rPr>
              <a:t> (</a:t>
            </a:r>
            <a:r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具特定諮商風格的諮商師</a:t>
            </a:r>
            <a:r>
              <a:rPr lang="zh-TW" sz="1200">
                <a:solidFill>
                  <a:srgbClr val="000000"/>
                </a:solidFill>
              </a:rPr>
              <a:t>)</a:t>
            </a:r>
            <a:endParaRPr sz="1200">
              <a:solidFill>
                <a:srgbClr val="000000"/>
              </a:solidFill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zh-TW" sz="1200"/>
              <a:t>實驗證實</a:t>
            </a:r>
            <a:r>
              <a:rPr b="1" i="0" lang="zh-TW" sz="1200" u="none" cap="none" strike="noStrike">
                <a:solidFill>
                  <a:srgbClr val="000000"/>
                </a:solidFill>
              </a:rPr>
              <a:t>合成對話</a:t>
            </a:r>
            <a:r>
              <a:rPr b="1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貼近真實諮商案例</a:t>
            </a:r>
            <a:r>
              <a:rPr b="1" lang="zh-TW" sz="1200"/>
              <a:t>、合成方法的有效性、PsyDTLLM 有較好的表現</a:t>
            </a:r>
            <a:r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❏"/>
            </a:pPr>
            <a:r>
              <a:rPr b="1" lang="zh-TW"/>
              <a:t>Limitation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本框架是為了建立特定風格的心理師</a:t>
            </a:r>
            <a:r>
              <a:rPr lang="zh-TW" sz="1200">
                <a:solidFill>
                  <a:srgbClr val="000000"/>
                </a:solidFill>
              </a:rPr>
              <a:t>，每個主題只使用一位心理師的諮商案例</a:t>
            </a:r>
            <a:r>
              <a:rPr lang="zh-TW" sz="1200"/>
              <a:t>。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不保證能解決</a:t>
            </a:r>
            <a:r>
              <a:rPr lang="zh-TW" sz="1200"/>
              <a:t>所有</a:t>
            </a:r>
            <a:r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個案的實際問題，也無法保證滿足所有個案的需求。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</a:pPr>
            <a:r>
              <a:rPr b="1" lang="zh-TW">
                <a:solidFill>
                  <a:schemeClr val="dk1"/>
                </a:solidFill>
              </a:rPr>
              <a:t>Future Work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zh-TW" sz="1200"/>
              <a:t>未來</a:t>
            </a:r>
            <a:r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可以結合</a:t>
            </a:r>
            <a:r>
              <a:rPr b="1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多位心理師</a:t>
            </a:r>
            <a:r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去做</a:t>
            </a:r>
            <a:r>
              <a:rPr b="1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聯合診斷</a:t>
            </a:r>
            <a:r>
              <a:rPr b="0" i="0" lang="zh-TW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的應用。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7e7bb5097_0_260"/>
          <p:cNvSpPr txBox="1"/>
          <p:nvPr/>
        </p:nvSpPr>
        <p:spPr>
          <a:xfrm>
            <a:off x="497425" y="777325"/>
            <a:ext cx="78678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❏"/>
            </a:pPr>
            <a:r>
              <a:rPr b="1" lang="zh-TW">
                <a:solidFill>
                  <a:schemeClr val="dk1"/>
                </a:solidFill>
              </a:rPr>
              <a:t>Personal Reflection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zh-TW" sz="1200">
                <a:solidFill>
                  <a:schemeClr val="dk1"/>
                </a:solidFill>
              </a:rPr>
              <a:t>改善消融實驗: </a:t>
            </a:r>
            <a:r>
              <a:rPr lang="zh-TW" sz="1200">
                <a:solidFill>
                  <a:schemeClr val="dk1"/>
                </a:solidFill>
              </a:rPr>
              <a:t>只有隨機抽取 16 組樣本去做人工投票，但樣本數太少，而且可能主題相同。需要抽樣更多筆資料(每個主題都各抽k筆)去做投票，實驗結果才比較可靠。</a:t>
            </a:r>
            <a:endParaRPr b="1" sz="1200">
              <a:solidFill>
                <a:schemeClr val="dk1"/>
              </a:solidFill>
            </a:endParaRPr>
          </a:p>
          <a:p>
            <a:pPr indent="-304800" lvl="0" marL="9144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zh-TW" sz="1200">
                <a:solidFill>
                  <a:schemeClr val="dk1"/>
                </a:solidFill>
              </a:rPr>
              <a:t>LLM-as-Judge 評估偏差: </a:t>
            </a:r>
            <a:r>
              <a:rPr lang="zh-TW" sz="1200">
                <a:solidFill>
                  <a:schemeClr val="dk1"/>
                </a:solidFill>
              </a:rPr>
              <a:t>評分容易受到 prompt 設計和模型偏好的影響，可以再多</a:t>
            </a:r>
            <a:r>
              <a:rPr lang="zh-TW" sz="1200">
                <a:solidFill>
                  <a:schemeClr val="dk1"/>
                </a:solidFill>
              </a:rPr>
              <a:t>加入</a:t>
            </a:r>
            <a:r>
              <a:rPr lang="zh-TW" sz="1200">
                <a:solidFill>
                  <a:schemeClr val="dk1"/>
                </a:solidFill>
              </a:rPr>
              <a:t>幾個模型參與評估，讓</a:t>
            </a:r>
            <a:r>
              <a:rPr lang="zh-TW" sz="1200">
                <a:solidFill>
                  <a:schemeClr val="dk1"/>
                </a:solidFill>
              </a:rPr>
              <a:t>評估</a:t>
            </a:r>
            <a:r>
              <a:rPr lang="zh-TW" sz="1200">
                <a:solidFill>
                  <a:schemeClr val="dk1"/>
                </a:solidFill>
              </a:rPr>
              <a:t>結果可以更穩定。</a:t>
            </a:r>
            <a:endParaRPr b="1" sz="1200">
              <a:solidFill>
                <a:schemeClr val="dk1"/>
              </a:solidFill>
            </a:endParaRPr>
          </a:p>
          <a:p>
            <a:pPr indent="-304800" lvl="0" marL="914400" marR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zh-TW" sz="1200">
                <a:solidFill>
                  <a:schemeClr val="dk1"/>
                </a:solidFill>
              </a:rPr>
              <a:t>加入使用者的</a:t>
            </a:r>
            <a:r>
              <a:rPr b="1" lang="zh-TW" sz="1200">
                <a:solidFill>
                  <a:schemeClr val="dk1"/>
                </a:solidFill>
              </a:rPr>
              <a:t>真實</a:t>
            </a:r>
            <a:r>
              <a:rPr b="1" lang="zh-TW" sz="1200">
                <a:solidFill>
                  <a:schemeClr val="dk1"/>
                </a:solidFill>
              </a:rPr>
              <a:t>回饋:</a:t>
            </a:r>
            <a:br>
              <a:rPr lang="zh-TW" sz="1200">
                <a:solidFill>
                  <a:schemeClr val="dk1"/>
                </a:solidFill>
              </a:rPr>
            </a:br>
            <a:r>
              <a:rPr lang="zh-TW" sz="1200">
                <a:solidFill>
                  <a:schemeClr val="dk1"/>
                </a:solidFill>
              </a:rPr>
              <a:t> LLM-as-judge和專家人工評分都屬於間接評估，可以邀請真實使用者進行對話，收集回饋，比較能反映在真實應用上的表現。補足目前用 LLM 與專家評估的不足。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86" name="Google Shape;286;g397e7bb5097_0_2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g397e7bb5097_0_2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8200" y="1901550"/>
            <a:ext cx="9305926" cy="10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97e7bb5097_0_205"/>
          <p:cNvSpPr txBox="1"/>
          <p:nvPr/>
        </p:nvSpPr>
        <p:spPr>
          <a:xfrm>
            <a:off x="558299" y="2050500"/>
            <a:ext cx="8027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zh-TW" sz="36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Thanks for your attention！</a:t>
            </a:r>
            <a:endParaRPr b="1" i="0" sz="3600" u="none" cap="none" strike="noStrik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94" name="Google Shape;294;g397e7bb5097_0_2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