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i8IhWdlTmCXQSuVczfdzJu/6K/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customschemas.google.com/relationships/presentationmetadata" Target="meta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clanthology.org/2024.findings-emnlp.34.pdf" TargetMode="External"/><Relationship Id="rId3" Type="http://schemas.openxmlformats.org/officeDocument/2006/relationships/hyperlink" Target="https://aclanthology.org/2023.findings-emnlp.83.pdf" TargetMode="External"/><Relationship Id="rId4" Type="http://schemas.openxmlformats.org/officeDocument/2006/relationships/hyperlink" Target="https://aclanthology.org/2024.findings-acl.830.pdf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clanthology.org/2024.findings-emnlp.34.pdf" TargetMode="External"/><Relationship Id="rId3" Type="http://schemas.openxmlformats.org/officeDocument/2006/relationships/hyperlink" Target="https://aclanthology.org/2023.findings-emnlp.83.pdf" TargetMode="External"/><Relationship Id="rId4" Type="http://schemas.openxmlformats.org/officeDocument/2006/relationships/hyperlink" Target="https://aclanthology.org/2024.findings-acl.830.pdf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ycollegenotebook.medium.com/rouge-%E8%A9%95%E4%BC%B0%E6%96%B9%E6%B3%95-%E8%87%AA%E5%8B%95%E6%96%87%E6%9C%AC%E6%91%98%E8%A6%81-8d9e9516698b" TargetMode="External"/><Relationship Id="rId3" Type="http://schemas.openxmlformats.org/officeDocument/2006/relationships/hyperlink" Target="https://www.wbolt.com/tw/bertscore-a-contextual-metric-for-llm-evaluation.html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sz="1200">
                <a:solidFill>
                  <a:srgbClr val="212529"/>
                </a:solidFill>
                <a:highlight>
                  <a:srgbClr val="FFFFFF"/>
                </a:highlight>
              </a:rPr>
              <a:t>2025 ACL Long paper</a:t>
            </a:r>
            <a:endParaRPr/>
          </a:p>
        </p:txBody>
      </p:sp>
      <p:sp>
        <p:nvSpPr>
          <p:cNvPr id="53" name="Google Shape;53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a001f95e2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7a001f95e2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" name="Google Shape;65;g37a001f95e2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dd066c0c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7dd066c0c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chemeClr val="dk1"/>
                </a:solidFill>
              </a:rPr>
              <a:t>真實世界數據的稀缺性</a:t>
            </a:r>
            <a:r>
              <a:rPr lang="zh-TW" sz="1200">
                <a:solidFill>
                  <a:schemeClr val="dk1"/>
                </a:solidFill>
              </a:rPr>
              <a:t>：由於倫理政策和隱私保護，真實世界的多輪心理健康對話數據極其稀有。因此，大多數基於LLMs的心理健康研究都依賴於合成多輪對話數據集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chemeClr val="dk1"/>
                </a:solidFill>
              </a:rPr>
              <a:t>大型語言模型（LLMs）的發展與侷限</a:t>
            </a:r>
            <a:r>
              <a:rPr lang="zh-TW" sz="1200">
                <a:solidFill>
                  <a:schemeClr val="dk1"/>
                </a:solidFill>
              </a:rPr>
              <a:t>：近年來，大型語言模型（LLMs），如ChatGPT、GPT-4等，在多個領域取得了顯著進展。然而，在心理諮詢等專業領域，它們往往因缺乏領域專門知識而遇到限制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chemeClr val="dk1"/>
                </a:solidFill>
              </a:rPr>
              <a:t>現有的心理健康LLMs: MeChat、PsyChat、SoulChat、EmoLLM、MindChat和CPsyCoun等) 能夠為個人提供情感支持和諮詢服務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E8E8E8"/>
                </a:solidFill>
                <a:highlight>
                  <a:srgbClr val="22262B"/>
                </a:highlight>
              </a:rPr>
              <a:t>忽略諮詢師的個人風格</a:t>
            </a:r>
            <a:r>
              <a:rPr lang="zh-TW" sz="1200">
                <a:solidFill>
                  <a:srgbClr val="E8E8E8"/>
                </a:solidFill>
                <a:highlight>
                  <a:srgbClr val="22262B"/>
                </a:highlight>
              </a:rPr>
              <a:t>：現有的心理健康LLMs沒有考慮到不同的心理諮詢師會展現出不同的個人風格，包括語言風格和治療類型等。</a:t>
            </a:r>
            <a:endParaRPr sz="1200">
              <a:solidFill>
                <a:srgbClr val="E8E8E8"/>
              </a:solidFill>
              <a:highlight>
                <a:srgbClr val="22262B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rgbClr val="E8E8E8"/>
                </a:solidFill>
                <a:highlight>
                  <a:srgbClr val="22262B"/>
                </a:highlight>
              </a:rPr>
              <a:t>無法滿足尋求不同諮詢風格的客戶的個性化需求。</a:t>
            </a:r>
            <a:r>
              <a:rPr b="1" lang="zh-TW" sz="1050">
                <a:solidFill>
                  <a:srgbClr val="E8E8E8"/>
                </a:solidFill>
                <a:highlight>
                  <a:srgbClr val="22262B"/>
                </a:highlight>
              </a:rPr>
              <a:t>混合風格數據導致模型不穩定</a:t>
            </a:r>
            <a:r>
              <a:rPr lang="zh-TW" sz="1050">
                <a:solidFill>
                  <a:srgbClr val="E8E8E8"/>
                </a:solidFill>
                <a:highlight>
                  <a:srgbClr val="22262B"/>
                </a:highlight>
              </a:rPr>
              <a:t>：將LLMs在混合了多種諮詢風格的多輪心理健康對話數據集上進行微調，往往會導致回應的不穩定</a:t>
            </a:r>
            <a:endParaRPr sz="1050">
              <a:solidFill>
                <a:srgbClr val="E8E8E8"/>
              </a:solidFill>
              <a:highlight>
                <a:srgbClr val="22262B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E8E8E8"/>
              </a:solidFill>
              <a:highlight>
                <a:srgbClr val="22262B"/>
              </a:highlight>
            </a:endParaRPr>
          </a:p>
        </p:txBody>
      </p:sp>
      <p:sp>
        <p:nvSpPr>
          <p:cNvPr id="74" name="Google Shape;74;g37dd066c0c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8623ffe6e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88623ffe6e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補上相關研究，以及他們可能有的缺點或少考量到的地方，所以作者才提出這個框架和LLM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SMILE</a:t>
            </a:r>
            <a:r>
              <a:rPr b="1" lang="zh-TW" sz="1200">
                <a:solidFill>
                  <a:schemeClr val="dk1"/>
                </a:solidFill>
              </a:rPr>
              <a:t>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使用 PsyQA 等單輪對話資料，設計一個特定 prompt 引導 ChatGPT 扮演心理學家和對話改寫者，將單輪對話改寫為至少十輪以上的多輪心理健康對話(SMILEChat dataset)，並用來微調ChatGLM2-6B  (得到MeChat )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SoulChat</a:t>
            </a:r>
            <a:r>
              <a:rPr lang="zh-TW" sz="1200">
                <a:solidFill>
                  <a:schemeClr val="dk1"/>
                </a:solidFill>
              </a:rPr>
              <a:t>：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透過資料外包服務收集大量中文心理諮詢的單輪問答資料，然後借鑒 SMILE 方法，設計一個強化了共情（包含傾聽、安慰、理解、信任等表達）的特定提示，用 ChatGPT 將這些單輪對話轉換為多輪共情對話；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對 ChatGPT 生成的多輪對話進行人工校對，特別強化共情能力，去建立超過兩百萬個樣本的 SoulChatCorpus；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對 ChatGLM-6B 等大型語言模型進行微調，顯著提升其在心理諮詢中的共情、傾聽和安慰能力</a:t>
            </a:r>
            <a:r>
              <a:rPr lang="zh-TW">
                <a:solidFill>
                  <a:schemeClr val="dk1"/>
                </a:solidFill>
              </a:rPr>
              <a:t>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(有點像是延伸並強化SMILE的做法，且用了比較多的資料。)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CPsyCoun</a:t>
            </a:r>
            <a:r>
              <a:rPr lang="zh-TW" sz="1200">
                <a:solidFill>
                  <a:schemeClr val="dk1"/>
                </a:solidFill>
              </a:rPr>
              <a:t>：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透過名為 Memo2Demo </a:t>
            </a:r>
            <a:r>
              <a:rPr b="1" lang="zh-TW">
                <a:solidFill>
                  <a:schemeClr val="dk1"/>
                </a:solidFill>
              </a:rPr>
              <a:t>兩階段方法</a:t>
            </a:r>
            <a:r>
              <a:rPr lang="zh-TW">
                <a:solidFill>
                  <a:schemeClr val="dk1"/>
                </a:solidFill>
              </a:rPr>
              <a:t>，從匿名的心理諮詢報告中重建</a:t>
            </a:r>
            <a:r>
              <a:rPr b="1" lang="zh-TW">
                <a:solidFill>
                  <a:schemeClr val="dk1"/>
                </a:solidFill>
              </a:rPr>
              <a:t>高品質的多輪對話資料集 </a:t>
            </a:r>
            <a:r>
              <a:rPr b="1"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CPsyCounD</a:t>
            </a:r>
            <a:r>
              <a:rPr lang="zh-TW">
                <a:solidFill>
                  <a:schemeClr val="dk1"/>
                </a:solidFill>
              </a:rPr>
              <a:t>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將報告轉換為諮詢筆記並在專業諮詢框架(詢問、診斷、諮詢、總結回顧) 下生成對話；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利用GPT-4依照制定好的評估標準當作prompt去評估單輪的表現，最後把所有單輪分數進行平均，得出多輪的分數。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最後在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CPsyCounD</a:t>
            </a:r>
            <a:r>
              <a:rPr lang="zh-TW">
                <a:solidFill>
                  <a:schemeClr val="dk1"/>
                </a:solidFill>
              </a:rPr>
              <a:t> 資料集上</a:t>
            </a:r>
            <a:r>
              <a:rPr b="1" lang="zh-TW">
                <a:solidFill>
                  <a:schemeClr val="dk1"/>
                </a:solidFill>
              </a:rPr>
              <a:t>微調 InternLM2-7B-Chat  (得到CPsyCounX)</a:t>
            </a:r>
            <a:r>
              <a:rPr lang="zh-TW">
                <a:solidFill>
                  <a:schemeClr val="dk1"/>
                </a:solidFill>
              </a:rPr>
              <a:t> 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86" name="Google Shape;86;g388623ffe6e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a78de4a92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8a78de4a92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補上相關研究，以及他們可能有的缺點或少考量到的地方，所以作者才提出這個框架和LLM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SMILE</a:t>
            </a:r>
            <a:r>
              <a:rPr b="1" lang="zh-TW" sz="1200">
                <a:solidFill>
                  <a:schemeClr val="dk1"/>
                </a:solidFill>
              </a:rPr>
              <a:t>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使用 PsyQA 等單輪對話資料，設計一個特定 prompt 引導 ChatGPT 扮演心理學家和對話改寫者，將單輪對話改寫為至少十輪以上的多輪心理健康對話(SMILEChat dataset)，並用來微調ChatGLM2-6B  (得到MeChat )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SoulChat</a:t>
            </a:r>
            <a:r>
              <a:rPr lang="zh-TW" sz="1200">
                <a:solidFill>
                  <a:schemeClr val="dk1"/>
                </a:solidFill>
              </a:rPr>
              <a:t>：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透過資料外包服務收集大量中文心理諮詢的單輪問答資料，然後借鑒 SMILE 方法，設計一個強化了共情（包含傾聽、安慰、理解、信任等表達）的特定提示，用 ChatGPT 將這些單輪對話轉換為多輪共情對話；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對 ChatGPT 生成的多輪對話進行人工校對，特別強化共情能力，去建立超過兩百萬個樣本的 SoulChatCorpus；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對 ChatGLM-6B 等大型語言模型進行微調，顯著提升其在心理諮詢中的共情、傾聽和安慰能力</a:t>
            </a:r>
            <a:r>
              <a:rPr lang="zh-TW">
                <a:solidFill>
                  <a:schemeClr val="dk1"/>
                </a:solidFill>
              </a:rPr>
              <a:t>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(有點像是延伸並強化SMILE的做法，且用了比較多的資料。)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CPsyCoun</a:t>
            </a:r>
            <a:r>
              <a:rPr lang="zh-TW" sz="1200">
                <a:solidFill>
                  <a:schemeClr val="dk1"/>
                </a:solidFill>
              </a:rPr>
              <a:t>：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透過名為 Memo2Demo </a:t>
            </a:r>
            <a:r>
              <a:rPr b="1" lang="zh-TW">
                <a:solidFill>
                  <a:schemeClr val="dk1"/>
                </a:solidFill>
              </a:rPr>
              <a:t>兩階段方法</a:t>
            </a:r>
            <a:r>
              <a:rPr lang="zh-TW">
                <a:solidFill>
                  <a:schemeClr val="dk1"/>
                </a:solidFill>
              </a:rPr>
              <a:t>，從匿名的心理諮詢報告中重建</a:t>
            </a:r>
            <a:r>
              <a:rPr b="1" lang="zh-TW">
                <a:solidFill>
                  <a:schemeClr val="dk1"/>
                </a:solidFill>
              </a:rPr>
              <a:t>高品質的多輪對話資料集 </a:t>
            </a:r>
            <a:r>
              <a:rPr b="1"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CPsyCounD</a:t>
            </a:r>
            <a:r>
              <a:rPr lang="zh-TW">
                <a:solidFill>
                  <a:schemeClr val="dk1"/>
                </a:solidFill>
              </a:rPr>
              <a:t>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將報告轉換為諮詢筆記並在專業諮詢框架(詢問、診斷、諮詢、總結回顧) 下生成對話；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利用GPT-4依照制定好的評估標準當作prompt去評估單輪的表現，最後把所有單輪分數進行平均，得出多輪的分數。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最後在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CPsyCounD</a:t>
            </a:r>
            <a:r>
              <a:rPr lang="zh-TW">
                <a:solidFill>
                  <a:schemeClr val="dk1"/>
                </a:solidFill>
              </a:rPr>
              <a:t> 資料集上</a:t>
            </a:r>
            <a:r>
              <a:rPr b="1" lang="zh-TW">
                <a:solidFill>
                  <a:schemeClr val="dk1"/>
                </a:solidFill>
              </a:rPr>
              <a:t>微調 InternLM2-7B-Chat  (得到CPsyCounX)</a:t>
            </a:r>
            <a:r>
              <a:rPr lang="zh-TW">
                <a:solidFill>
                  <a:schemeClr val="dk1"/>
                </a:solidFill>
              </a:rPr>
              <a:t> 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97" name="Google Shape;97;g38a78de4a92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8623ffe6e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88623ffe6e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需要先有他們想要的資料集，所以他們先提出一個準備資料的方法 (PsyDT框架)。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然後...，所以有了資料集後，去對LLM做多輪微調，得到他們最後提出的PsyDTLLM。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從單輪對話(從SoulChat Corpus多輪同理心對話資料集，抓取出5000個高品質的單輪對話)中，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找到特定主題的諮詢師範例</a:t>
            </a:r>
            <a:r>
              <a:rPr lang="zh-TW" sz="1400">
                <a:solidFill>
                  <a:schemeClr val="dk1"/>
                </a:solidFill>
              </a:rPr>
              <a:t>(每個主題會有一個諮商師案例)</a:t>
            </a:r>
            <a:r>
              <a:rPr lang="zh-TW" sz="1400">
                <a:solidFill>
                  <a:schemeClr val="dk1"/>
                </a:solidFill>
              </a:rPr>
              <a:t>(這些範例是作者們透過實際訪談去得到的真實案例)，擷取他的語意風格(沒有特別的理論基礎所以沒有建成知識庫，由GPT主觀判別)、治療方法(符合RBGT的理論基礎且有知識庫，會特別先檢索再放進prompt: 從現有知識庫，檢索出與範例中類似的療法)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從來訪者的問題，擷取他的人格特質(根據big-five人格特質區分)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最後包成一個prompt，合成出多輪資料集PsyDT Corpus，再用此去多輪微調出PsyDTLLM。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(使用 GPT-4 依照 "單輪對話+[諮詢師的語言風格、諮詢師的治療技術(再從治療型態KB檢索出對應療法)、客戶人格]+[情緒引導+回應引導]+該主題的一則真實個案"，去改寫生成多輪對話。)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07" name="Google Shape;107;g388623ffe6e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8623ffe6e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88623ffe6e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7" name="Google Shape;127;g388623ffe6e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8623ffe6e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88623ffe6e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利用 PsyDT Corpus 微調，得到 PsyDTLLM 之後，他們想探討以下的問題。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前面三個是他們想知道他們的合成資料集的方法有沒有比別人好。最後一個是使用這個資料集微調的LLM，和其他模型比，表現如何。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In summary, we address the following research questions (RQs):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• RQ1: How similar is the synthesized multiturn dialogues dataset with real-world counseling cases of specific counselor?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• RQ2: What is the performance of PsyDTCorpus as compared with baseline datasets?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• RQ3: Do the different components in the multi-turn dialogues synthesis method of PsyDT synthesize the corresponding effect of PsyDTCorpus?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• RQ4: What is the performance of PsyDTLLM as compared with baseline LLMs?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4" name="Google Shape;144;g388623ffe6e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8623ffe6e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88623ffe6e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去看這兩個方法的內容，稍微介紹一下:(放在相關研究那邊講)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SoulChat_Prompt 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Smile_Prompt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評估的部分: 會給模型，他們設計好的標準，0%~25%、25%~50%、50%~75%、75%~100%，各%數範圍代表什麼標準。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模型會給一個%數，然後附上理由。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3" name="Google Shape;153;g388623ffe6e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acb011cd0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8acb011cd0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去看這兩個方法的內容，稍微介紹一下:(放在相關研究那邊講)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SoulChat_Prompt 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Smile_Prompt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評估的部分: 會給模型，他們設計好的標準，0%~25%、25%~50%、50%~75%、75%~100%，各%數範圍代表什麼標準。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模型會給一個%數，然後附上理由。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9" name="Google Shape;169;g38acb011cd0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1f0f0602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81f0f0602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去看這兩個方法的內容，稍微介紹一下:(放在相關研究那邊講)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SoulChat_Prompt 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Smile_Prompt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評估的部分: 會給模型，他們設計好的標準，0%~25%、25%~50%、50%~75%、75%~100%，各%數範圍代表什麼標準。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模型會給一個%數，然後附上理由。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4" name="Google Shape;184;g381f0f0602f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d62552ecd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7d62552ecd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表格統計欄位：</a:t>
            </a:r>
            <a:r>
              <a:rPr b="1" lang="zh-TW">
                <a:solidFill>
                  <a:schemeClr val="dk1"/>
                </a:solidFill>
              </a:rPr>
              <a:t>Open.</a:t>
            </a:r>
            <a:r>
              <a:rPr lang="zh-TW">
                <a:solidFill>
                  <a:schemeClr val="dk1"/>
                </a:solidFill>
              </a:rPr>
              <a:t>（是否開放）、</a:t>
            </a:r>
            <a:r>
              <a:rPr b="1" lang="zh-TW">
                <a:solidFill>
                  <a:schemeClr val="dk1"/>
                </a:solidFill>
              </a:rPr>
              <a:t>Size</a:t>
            </a:r>
            <a:r>
              <a:rPr lang="zh-TW">
                <a:solidFill>
                  <a:schemeClr val="dk1"/>
                </a:solidFill>
              </a:rPr>
              <a:t>、</a:t>
            </a:r>
            <a:r>
              <a:rPr b="1" lang="zh-TW">
                <a:solidFill>
                  <a:schemeClr val="dk1"/>
                </a:solidFill>
              </a:rPr>
              <a:t>NoT</a:t>
            </a:r>
            <a:r>
              <a:rPr lang="zh-TW">
                <a:solidFill>
                  <a:schemeClr val="dk1"/>
                </a:solidFill>
              </a:rPr>
              <a:t>（平均輪數）、</a:t>
            </a:r>
            <a:r>
              <a:rPr b="1" lang="zh-TW">
                <a:solidFill>
                  <a:schemeClr val="dk1"/>
                </a:solidFill>
              </a:rPr>
              <a:t>LoC/LoP</a:t>
            </a:r>
            <a:r>
              <a:rPr lang="zh-TW">
                <a:solidFill>
                  <a:schemeClr val="dk1"/>
                </a:solidFill>
              </a:rPr>
              <a:t>（來談者/諮商師平均字數）、以及能力指標 </a:t>
            </a:r>
            <a:r>
              <a:rPr b="1" lang="zh-TW">
                <a:solidFill>
                  <a:schemeClr val="dk1"/>
                </a:solidFill>
              </a:rPr>
              <a:t>EmoE.</a:t>
            </a:r>
            <a:r>
              <a:rPr lang="zh-TW">
                <a:solidFill>
                  <a:schemeClr val="dk1"/>
                </a:solidFill>
              </a:rPr>
              <a:t>（情緒同理）、</a:t>
            </a:r>
            <a:r>
              <a:rPr b="1" lang="zh-TW">
                <a:solidFill>
                  <a:schemeClr val="dk1"/>
                </a:solidFill>
              </a:rPr>
              <a:t>CogE.</a:t>
            </a:r>
            <a:r>
              <a:rPr lang="zh-TW">
                <a:solidFill>
                  <a:schemeClr val="dk1"/>
                </a:solidFill>
              </a:rPr>
              <a:t>（認知同理）、</a:t>
            </a:r>
            <a:r>
              <a:rPr b="1" lang="zh-TW">
                <a:solidFill>
                  <a:schemeClr val="dk1"/>
                </a:solidFill>
              </a:rPr>
              <a:t>TheT.</a:t>
            </a:r>
            <a:r>
              <a:rPr lang="zh-TW">
                <a:solidFill>
                  <a:schemeClr val="dk1"/>
                </a:solidFill>
              </a:rPr>
              <a:t>（治療技法）。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專家人工評分</a:t>
            </a:r>
            <a:r>
              <a:rPr lang="zh-TW">
                <a:solidFill>
                  <a:schemeClr val="dk1"/>
                </a:solidFill>
              </a:rPr>
              <a:t>（五位心理相關背景評審）：</a:t>
            </a:r>
            <a:r>
              <a:rPr b="1" lang="zh-TW">
                <a:solidFill>
                  <a:schemeClr val="dk1"/>
                </a:solidFill>
              </a:rPr>
              <a:t>Con.</a:t>
            </a:r>
            <a:r>
              <a:rPr lang="zh-TW">
                <a:solidFill>
                  <a:schemeClr val="dk1"/>
                </a:solidFill>
              </a:rPr>
              <a:t>（對話策略）、</a:t>
            </a:r>
            <a:r>
              <a:rPr b="1" lang="zh-TW">
                <a:solidFill>
                  <a:schemeClr val="dk1"/>
                </a:solidFill>
              </a:rPr>
              <a:t>Sta.</a:t>
            </a:r>
            <a:r>
              <a:rPr lang="zh-TW">
                <a:solidFill>
                  <a:schemeClr val="dk1"/>
                </a:solidFill>
              </a:rPr>
              <a:t>（狀態與態度）、</a:t>
            </a:r>
            <a:r>
              <a:rPr b="1" lang="zh-TW">
                <a:solidFill>
                  <a:schemeClr val="dk1"/>
                </a:solidFill>
              </a:rPr>
              <a:t>Rel.</a:t>
            </a:r>
            <a:r>
              <a:rPr lang="zh-TW">
                <a:solidFill>
                  <a:schemeClr val="dk1"/>
                </a:solidFill>
              </a:rPr>
              <a:t>（關係建立）、</a:t>
            </a:r>
            <a:r>
              <a:rPr b="1" lang="zh-TW">
                <a:solidFill>
                  <a:schemeClr val="dk1"/>
                </a:solidFill>
              </a:rPr>
              <a:t>App.</a:t>
            </a:r>
            <a:r>
              <a:rPr lang="zh-TW">
                <a:solidFill>
                  <a:schemeClr val="dk1"/>
                </a:solidFill>
              </a:rPr>
              <a:t>（治療技術應用），並額外評 </a:t>
            </a:r>
            <a:r>
              <a:rPr b="1" lang="zh-TW">
                <a:solidFill>
                  <a:schemeClr val="dk1"/>
                </a:solidFill>
              </a:rPr>
              <a:t>Flu.</a:t>
            </a:r>
            <a:r>
              <a:rPr lang="zh-TW">
                <a:solidFill>
                  <a:schemeClr val="dk1"/>
                </a:solidFill>
              </a:rPr>
              <a:t>（流暢度）與 </a:t>
            </a:r>
            <a:r>
              <a:rPr b="1" lang="zh-TW">
                <a:solidFill>
                  <a:schemeClr val="dk1"/>
                </a:solidFill>
              </a:rPr>
              <a:t>Saf.</a:t>
            </a:r>
            <a:r>
              <a:rPr lang="zh-TW">
                <a:solidFill>
                  <a:schemeClr val="dk1"/>
                </a:solidFill>
              </a:rPr>
              <a:t>（安全）；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量尺：Con/Sta/Rel/App 為 0–10 分，Flu 為 0/1；。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" name="Google Shape;199;g37d62552ecd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d62552ecd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7d62552ecd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0" name="Google Shape;210;g37d62552ecd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8623ffe6e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88623ffe6e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</a:rPr>
              <a:t>每個值的範圍，是如何被定義?  -&gt;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https://mycollegenotebook.medium.com/rouge-%E8%A9%95%E4%BC%B0%E6%96%B9%E6%B3%95-%E8%87%AA%E5%8B%95%E6%96%87%E6%9C%AC%E6%91%98%E8%A6%81-8d9e9516698b</a:t>
            </a:r>
            <a:r>
              <a:rPr lang="zh-TW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precision分母是 正確答案  -&gt;  正確答案中我對了幾個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recall分母是我的答案   -&gt; 我的答案中包含多少正確答案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最長共同子序列(不需要連續，共同的子序列就可)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300">
                <a:solidFill>
                  <a:schemeClr val="dk1"/>
                </a:solidFill>
              </a:rPr>
              <a:t>最佳匹配 (max similarity) 的意思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BERTScore 計算方式：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對 </a:t>
            </a:r>
            <a:r>
              <a:rPr b="1" lang="zh-TW">
                <a:solidFill>
                  <a:schemeClr val="dk1"/>
                </a:solidFill>
              </a:rPr>
              <a:t>生成句</a:t>
            </a:r>
            <a:r>
              <a:rPr lang="zh-TW">
                <a:solidFill>
                  <a:schemeClr val="dk1"/>
                </a:solidFill>
              </a:rPr>
              <a:t>裡的每個詞 wc​，去找 </a:t>
            </a:r>
            <a:r>
              <a:rPr b="1" lang="zh-TW">
                <a:solidFill>
                  <a:schemeClr val="dk1"/>
                </a:solidFill>
              </a:rPr>
              <a:t>參考句</a:t>
            </a:r>
            <a:r>
              <a:rPr lang="zh-TW">
                <a:solidFill>
                  <a:schemeClr val="dk1"/>
                </a:solidFill>
              </a:rPr>
              <a:t>裡最相近的一個詞 wr​。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透過 </a:t>
            </a:r>
            <a:r>
              <a:rPr b="1" lang="zh-TW">
                <a:solidFill>
                  <a:schemeClr val="dk1"/>
                </a:solidFill>
              </a:rPr>
              <a:t>cosine similarity</a:t>
            </a:r>
            <a:r>
              <a:rPr lang="zh-TW">
                <a:solidFill>
                  <a:schemeClr val="dk1"/>
                </a:solidFill>
              </a:rPr>
              <a:t>（餘弦相似度）。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例： "kitten" → 最相似的是 "cat"，"adorable" → 最相似的是 "cute"。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計算這些「最大相似度」的平均值。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這樣確保每個生成詞都找到一個「最好的對應」。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zh-TW">
                <a:solidFill>
                  <a:schemeClr val="dk1"/>
                </a:solidFill>
              </a:rPr>
              <a:t>讓生成文本和參考文本之間，互相對應到最相似的詞之後，去算precision、recall 然後得出F1 score。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https://www.wbolt.com/tw/bertscore-a-contextual-metric-for-llm-evaluation.html</a:t>
            </a:r>
            <a:r>
              <a:rPr lang="zh-TW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0" name="Google Shape;220;g388623ffe6e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d780f78d4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7d780f78d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那些給LLM的評分Prompt，來源參考: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對於評估微調模型 PsyDTLLM 專業性能（RQ4）的提示，研究人員依據專業心理學領域的標準，總結了評估維度。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• </a:t>
            </a:r>
            <a:r>
              <a:rPr b="1" lang="zh-TW" sz="1050">
                <a:solidFill>
                  <a:schemeClr val="dk1"/>
                </a:solidFill>
              </a:rPr>
              <a:t>專業評估維度的參考來源：</a:t>
            </a:r>
            <a:r>
              <a:rPr lang="zh-TW" sz="1050">
                <a:solidFill>
                  <a:schemeClr val="dk1"/>
                </a:solidFill>
              </a:rPr>
              <a:t> 為了確保評估的準確性和專業性，研究人員根據 </a:t>
            </a:r>
            <a:r>
              <a:rPr b="1" lang="zh-TW" sz="1050">
                <a:solidFill>
                  <a:schemeClr val="dk1"/>
                </a:solidFill>
              </a:rPr>
              <a:t>Swank and Lambie, 2012</a:t>
            </a:r>
            <a:r>
              <a:rPr lang="zh-TW" sz="1050">
                <a:solidFill>
                  <a:schemeClr val="dk1"/>
                </a:solidFill>
              </a:rPr>
              <a:t> 和 </a:t>
            </a:r>
            <a:r>
              <a:rPr b="1" lang="zh-TW" sz="1050">
                <a:solidFill>
                  <a:schemeClr val="dk1"/>
                </a:solidFill>
              </a:rPr>
              <a:t>Association et al., 2012</a:t>
            </a:r>
            <a:r>
              <a:rPr lang="zh-TW" sz="1050">
                <a:solidFill>
                  <a:schemeClr val="dk1"/>
                </a:solidFill>
              </a:rPr>
              <a:t> 的參考資料，總結了四個專業評估維度。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    ◦ 這些維度包括：</a:t>
            </a:r>
            <a:r>
              <a:rPr lang="zh-TW" sz="1050">
                <a:solidFill>
                  <a:schemeClr val="dk1"/>
                </a:solidFill>
                <a:highlight>
                  <a:srgbClr val="FCE5CD"/>
                </a:highlight>
              </a:rPr>
              <a:t>會話策略（Conversation Strategy, Con.）</a:t>
            </a:r>
            <a:r>
              <a:rPr lang="zh-TW" sz="1050">
                <a:solidFill>
                  <a:schemeClr val="dk1"/>
                </a:solidFill>
              </a:rPr>
              <a:t>、</a:t>
            </a:r>
            <a:r>
              <a:rPr lang="zh-TW" sz="1050">
                <a:solidFill>
                  <a:schemeClr val="dk1"/>
                </a:solidFill>
                <a:highlight>
                  <a:srgbClr val="FCE5CD"/>
                </a:highlight>
              </a:rPr>
              <a:t>狀態與態度（State and Attitude, Sta.）</a:t>
            </a:r>
            <a:r>
              <a:rPr lang="zh-TW" sz="1050">
                <a:solidFill>
                  <a:schemeClr val="dk1"/>
                </a:solidFill>
              </a:rPr>
              <a:t>、關係建立（Relationship Building, Rel.）以及療癒技術的應用（Application of Therapy Technique, App.）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• </a:t>
            </a:r>
            <a:r>
              <a:rPr b="1" lang="zh-TW" sz="1050">
                <a:solidFill>
                  <a:schemeClr val="dk1"/>
                </a:solidFill>
              </a:rPr>
              <a:t>同理心指標的依據：</a:t>
            </a:r>
            <a:r>
              <a:rPr lang="zh-TW" sz="1050">
                <a:solidFill>
                  <a:schemeClr val="dk1"/>
                </a:solidFill>
              </a:rPr>
              <a:t> 在設計</a:t>
            </a:r>
            <a:r>
              <a:rPr lang="zh-TW" sz="1050">
                <a:solidFill>
                  <a:schemeClr val="dk1"/>
                </a:solidFill>
                <a:highlight>
                  <a:srgbClr val="FCE5CD"/>
                </a:highlight>
              </a:rPr>
              <a:t>情緒同理心（Emotional Empathy, EmoE.）</a:t>
            </a:r>
            <a:r>
              <a:rPr lang="zh-TW" sz="1050">
                <a:solidFill>
                  <a:schemeClr val="dk1"/>
                </a:solidFill>
              </a:rPr>
              <a:t>和</a:t>
            </a:r>
            <a:r>
              <a:rPr lang="zh-TW" sz="1050">
                <a:solidFill>
                  <a:schemeClr val="dk1"/>
                </a:solidFill>
                <a:highlight>
                  <a:srgbClr val="FCE5CD"/>
                </a:highlight>
              </a:rPr>
              <a:t>認知同理心（Cognitive Empathy, CogE.）</a:t>
            </a:r>
            <a:r>
              <a:rPr lang="zh-TW" sz="1050">
                <a:solidFill>
                  <a:schemeClr val="dk1"/>
                </a:solidFill>
              </a:rPr>
              <a:t>的評估提示時，特別是針對</a:t>
            </a:r>
            <a:r>
              <a:rPr b="1" lang="zh-TW" sz="1050">
                <a:solidFill>
                  <a:schemeClr val="dk1"/>
                </a:solidFill>
              </a:rPr>
              <a:t>認知同理心</a:t>
            </a:r>
            <a:r>
              <a:rPr lang="zh-TW" sz="1050">
                <a:solidFill>
                  <a:schemeClr val="dk1"/>
                </a:solidFill>
              </a:rPr>
              <a:t>的定義，研究提及了 </a:t>
            </a:r>
            <a:r>
              <a:rPr b="1" lang="zh-TW" sz="1050">
                <a:solidFill>
                  <a:schemeClr val="dk1"/>
                </a:solidFill>
              </a:rPr>
              <a:t>Preston and De Waal, 2002</a:t>
            </a:r>
            <a:r>
              <a:rPr lang="zh-TW" sz="1050">
                <a:solidFill>
                  <a:schemeClr val="dk1"/>
                </a:solidFill>
              </a:rPr>
              <a:t> 的相關工作。認知同理心被定義為理解和識別他人情緒狀態的能力，依賴於對他人思維、信念、意圖和情緒的理性理解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g37d780f78d4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8623ffe6e_0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88623ffe6e_0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7" name="Google Shape;247;g388623ffe6e_0_1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acb011cd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8acb011cd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LLM-as-Judge 的評估偏差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雖然 GPT-4o 與 Claude 3.5 具備一定理解力，但使用 LLM 進行風格與治療技術評估，可能因 prompt wording 與模型偏好產生結構性偏差。若缺乏「多模型共識」或「人類校正機制」，此評估可能高估了 PsyDTCorpus 的真實相似度（約70%）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消融實驗的範圍不足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消融測試僅移除三個組件（語言風格、治療技法、人格），且樣本只有隨機抽取 16 組，樣本數太少，很難能下定論。而且可能抽到同個主題的樣本，有可能某個主題的樣本就會需要三個組件的某一項，所以才會導致論文中的結果。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LLM-as-judge</a:t>
            </a:r>
            <a:r>
              <a:rPr lang="zh-TW">
                <a:solidFill>
                  <a:schemeClr val="dk1"/>
                </a:solidFill>
              </a:rPr>
              <a:t>和</a:t>
            </a:r>
            <a:r>
              <a:rPr b="1" lang="zh-TW">
                <a:solidFill>
                  <a:schemeClr val="dk1"/>
                </a:solidFill>
              </a:rPr>
              <a:t>專家人工評分都屬於間接評估（proxy evaluation）</a:t>
            </a:r>
            <a:r>
              <a:rPr lang="zh-TW">
                <a:solidFill>
                  <a:schemeClr val="dk1"/>
                </a:solidFill>
              </a:rPr>
              <a:t>，無法反映</a:t>
            </a:r>
            <a:r>
              <a:rPr b="1" lang="zh-TW">
                <a:solidFill>
                  <a:schemeClr val="dk1"/>
                </a:solidFill>
              </a:rPr>
              <a:t>實際使用體驗與情緒影響</a:t>
            </a:r>
            <a:endParaRPr/>
          </a:p>
        </p:txBody>
      </p:sp>
      <p:sp>
        <p:nvSpPr>
          <p:cNvPr id="256" name="Google Shape;256;g38acb011cd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8623ffe6e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88623ffe6e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88623ffe6e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hyperlink" Target="https://aclanthology.org/2024.findings-emnlp.34.pdf" TargetMode="External"/><Relationship Id="rId5" Type="http://schemas.openxmlformats.org/officeDocument/2006/relationships/hyperlink" Target="https://aclanthology.org/2023.findings-emnlp.83.pdf" TargetMode="External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hyperlink" Target="https://aclanthology.org/2024.findings-acl.830.pdf" TargetMode="External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hyperlink" Target="https://hackmd.io/@YungHuiHsu/SyIdBun4a" TargetMode="External"/><Relationship Id="rId7" Type="http://schemas.openxmlformats.org/officeDocument/2006/relationships/image" Target="../media/image19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20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37" y="143925"/>
            <a:ext cx="9015114" cy="30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376425" y="143925"/>
            <a:ext cx="451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zh-TW" sz="24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合成式影像生成-期中論文報告</a:t>
            </a:r>
            <a:endParaRPr b="0" i="0" sz="24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57" name="Google Shape;57;p1" title="螢幕擷取畫面 2025-09-06 05432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1476750" y="3619600"/>
            <a:ext cx="619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DFKai-SB"/>
                <a:ea typeface="DFKai-SB"/>
                <a:cs typeface="DFKai-SB"/>
                <a:sym typeface="DFKai-SB"/>
              </a:rPr>
              <a:t>組別:第九組  組員</a:t>
            </a:r>
            <a:r>
              <a:rPr b="0" i="0" lang="zh-TW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DFKai-SB"/>
                <a:ea typeface="DFKai-SB"/>
                <a:cs typeface="DFKai-SB"/>
                <a:sym typeface="DFKai-SB"/>
              </a:rPr>
              <a:t>:</a:t>
            </a:r>
            <a:r>
              <a:rPr lang="zh-TW" sz="20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林鼎翔、許哲瑜</a:t>
            </a:r>
            <a:endParaRPr b="0" i="0" sz="20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9" name="Google Shape;59;p1"/>
          <p:cNvSpPr/>
          <p:nvPr/>
        </p:nvSpPr>
        <p:spPr>
          <a:xfrm flipH="1" rot="10800000">
            <a:off x="491625" y="3363850"/>
            <a:ext cx="8027400" cy="19500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 flipH="1" rot="10800000">
            <a:off x="444499" y="618200"/>
            <a:ext cx="4145100" cy="34200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g37a001f95e2_0_92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7a001f95e2_0_92"/>
          <p:cNvSpPr txBox="1"/>
          <p:nvPr/>
        </p:nvSpPr>
        <p:spPr>
          <a:xfrm>
            <a:off x="376425" y="83525"/>
            <a:ext cx="301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報告大綱</a:t>
            </a:r>
            <a:endParaRPr b="0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69" name="Google Shape;69;g37a001f95e2_0_92"/>
          <p:cNvSpPr txBox="1"/>
          <p:nvPr/>
        </p:nvSpPr>
        <p:spPr>
          <a:xfrm>
            <a:off x="1501650" y="727626"/>
            <a:ext cx="69708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一、研究動機與目標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二、相關研究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三、資料準備與模型微調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四、研究問題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五、方法與實驗</a:t>
            </a: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結果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六、結論</a:t>
            </a: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與反思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70" name="Google Shape;70;g37a001f95e2_0_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7dd066c0c1_0_0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7dd066c0c1_0_0"/>
          <p:cNvSpPr txBox="1"/>
          <p:nvPr/>
        </p:nvSpPr>
        <p:spPr>
          <a:xfrm>
            <a:off x="376425" y="83525"/>
            <a:ext cx="387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一、研究動機與目標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78" name="Google Shape;78;g37dd066c0c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0925" y="1225175"/>
            <a:ext cx="4372950" cy="251928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7dd066c0c1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80" name="Google Shape;80;g37dd066c0c1_0_0"/>
          <p:cNvGrpSpPr/>
          <p:nvPr/>
        </p:nvGrpSpPr>
        <p:grpSpPr>
          <a:xfrm>
            <a:off x="218975" y="815275"/>
            <a:ext cx="4663200" cy="3441600"/>
            <a:chOff x="97925" y="853425"/>
            <a:chExt cx="4663200" cy="3441600"/>
          </a:xfrm>
        </p:grpSpPr>
        <p:sp>
          <p:nvSpPr>
            <p:cNvPr id="81" name="Google Shape;81;g37dd066c0c1_0_0"/>
            <p:cNvSpPr txBox="1"/>
            <p:nvPr/>
          </p:nvSpPr>
          <p:spPr>
            <a:xfrm>
              <a:off x="97925" y="853425"/>
              <a:ext cx="4663200" cy="344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❏"/>
              </a:pPr>
              <a:r>
                <a:rPr b="1" i="0" lang="zh-TW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研究背景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多輪對話的心理健康數據難以取得，多數基於LLM的心理健康研究都須透過合成，來取得多輪對話數據。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❏"/>
              </a:pPr>
              <a:r>
                <a:rPr b="1" i="0" lang="zh-TW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研究動機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現有的心理健康諮詢系統: MeChat、PsyChat、SoulChat、EmoLLM、MindChat 和 CPsyCoun，將LLMs在混合了多種諮詢風格的多輪心理健康對話數據集上進行微調。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57200" lvl="0" marL="914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914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 LLM的回應不穩定，</a:t>
              </a:r>
              <a:r>
                <a:rPr lang="zh-TW" sz="1200">
                  <a:solidFill>
                    <a:schemeClr val="dk1"/>
                  </a:solidFill>
                </a:rPr>
                <a:t>沒有</a:t>
              </a: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特定的回應風格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❏"/>
              </a:pPr>
              <a:r>
                <a:rPr b="1" i="0" lang="zh-TW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研究目標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利用 LLMs 快速且具成本效益</a:t>
              </a:r>
              <a:r>
                <a:rPr lang="zh-TW" sz="1200">
                  <a:solidFill>
                    <a:schemeClr val="dk1"/>
                  </a:solidFill>
                </a:rPr>
                <a:t>的</a:t>
              </a: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構建 "具有個性化諮詢風格的心理諮詢師"。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7dd066c0c1_0_0"/>
            <p:cNvSpPr/>
            <p:nvPr/>
          </p:nvSpPr>
          <p:spPr>
            <a:xfrm>
              <a:off x="728450" y="3063600"/>
              <a:ext cx="548700" cy="284100"/>
            </a:xfrm>
            <a:prstGeom prst="right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88623ffe6e_0_97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88623ffe6e_0_97"/>
          <p:cNvSpPr txBox="1"/>
          <p:nvPr/>
        </p:nvSpPr>
        <p:spPr>
          <a:xfrm>
            <a:off x="376425" y="83525"/>
            <a:ext cx="387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二、相關研究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90" name="Google Shape;90;g388623ffe6e_0_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g388623ffe6e_0_97"/>
          <p:cNvSpPr txBox="1"/>
          <p:nvPr/>
        </p:nvSpPr>
        <p:spPr>
          <a:xfrm>
            <a:off x="-1524175" y="752100"/>
            <a:ext cx="814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88623ffe6e_0_97"/>
          <p:cNvSpPr txBox="1"/>
          <p:nvPr/>
        </p:nvSpPr>
        <p:spPr>
          <a:xfrm>
            <a:off x="346025" y="795825"/>
            <a:ext cx="82212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❏"/>
            </a:pPr>
            <a:r>
              <a:rPr b="1" i="0" lang="zh-TW" sz="12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SMILE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使用 PsyQA 等單輪對話資料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透過設計 Prompt 讓 ChatGPT 扮演心理學家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把單輪對話擴寫成十輪以上的多輪心理健康對話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建立了 SMILEChat 資料集並用來微調 ChatGLM2-6B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❏"/>
            </a:pPr>
            <a:r>
              <a:rPr b="1" i="0" lang="zh-TW" sz="12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SoulChat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外包收集大量心理諮詢單輪中文問答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借鑑 SMILE 方法設計 Prompt 讓 ChatGPT 生成多輪對話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特別強化共情表達且經過人工檢驗，建立 SoulChatCorpus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最後用來微調 ChatGLM-6B，強化模型的共情與安慰的能力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88623ffe6e_0_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6950" y="882555"/>
            <a:ext cx="3670275" cy="2144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8a78de4a92_0_6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8a78de4a92_0_6"/>
          <p:cNvSpPr txBox="1"/>
          <p:nvPr/>
        </p:nvSpPr>
        <p:spPr>
          <a:xfrm>
            <a:off x="376425" y="83525"/>
            <a:ext cx="387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二、相關研究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1" name="Google Shape;101;g38a78de4a92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g38a78de4a92_0_6"/>
          <p:cNvSpPr txBox="1"/>
          <p:nvPr/>
        </p:nvSpPr>
        <p:spPr>
          <a:xfrm>
            <a:off x="148425" y="1253225"/>
            <a:ext cx="43266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❏"/>
            </a:pPr>
            <a:r>
              <a:rPr b="1" i="0" lang="zh-TW" sz="12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CPsyCoun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使用 GLM-4 先把匿名諮詢報告轉換為諮詢筆記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再生成符合諮詢步驟 (詢問、診斷、諮商、總結) 的多輪對話 CPsyCounD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 GPT-4 評估多個單輪表現並平均，得到多輪分數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 CPsyCounD 資料上微調 InternLM2-7B-Chat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8a78de4a92_0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9025" y="1055637"/>
            <a:ext cx="4660250" cy="2875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88623ffe6e_0_61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88623ffe6e_0_61"/>
          <p:cNvSpPr txBox="1"/>
          <p:nvPr/>
        </p:nvSpPr>
        <p:spPr>
          <a:xfrm>
            <a:off x="376425" y="83525"/>
            <a:ext cx="518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三、資料準備與模型微調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11" name="Google Shape;111;g388623ffe6e_0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4575" y="5710500"/>
            <a:ext cx="2398600" cy="226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88623ffe6e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113" name="Google Shape;113;g388623ffe6e_0_61"/>
          <p:cNvGrpSpPr/>
          <p:nvPr/>
        </p:nvGrpSpPr>
        <p:grpSpPr>
          <a:xfrm>
            <a:off x="1102427" y="666110"/>
            <a:ext cx="7370031" cy="3678094"/>
            <a:chOff x="1093652" y="713810"/>
            <a:chExt cx="7370031" cy="3678094"/>
          </a:xfrm>
        </p:grpSpPr>
        <p:grpSp>
          <p:nvGrpSpPr>
            <p:cNvPr id="114" name="Google Shape;114;g388623ffe6e_0_61"/>
            <p:cNvGrpSpPr/>
            <p:nvPr/>
          </p:nvGrpSpPr>
          <p:grpSpPr>
            <a:xfrm>
              <a:off x="1093652" y="713810"/>
              <a:ext cx="6725926" cy="3678094"/>
              <a:chOff x="3395913" y="795225"/>
              <a:chExt cx="6810375" cy="3724275"/>
            </a:xfrm>
          </p:grpSpPr>
          <p:grpSp>
            <p:nvGrpSpPr>
              <p:cNvPr id="115" name="Google Shape;115;g388623ffe6e_0_61"/>
              <p:cNvGrpSpPr/>
              <p:nvPr/>
            </p:nvGrpSpPr>
            <p:grpSpPr>
              <a:xfrm>
                <a:off x="3395913" y="795225"/>
                <a:ext cx="6810375" cy="3724275"/>
                <a:chOff x="3395913" y="795225"/>
                <a:chExt cx="6810375" cy="3724275"/>
              </a:xfrm>
            </p:grpSpPr>
            <p:grpSp>
              <p:nvGrpSpPr>
                <p:cNvPr id="116" name="Google Shape;116;g388623ffe6e_0_61"/>
                <p:cNvGrpSpPr/>
                <p:nvPr/>
              </p:nvGrpSpPr>
              <p:grpSpPr>
                <a:xfrm>
                  <a:off x="3395913" y="795225"/>
                  <a:ext cx="6810375" cy="3724275"/>
                  <a:chOff x="5019963" y="-2607962"/>
                  <a:chExt cx="6810375" cy="3724275"/>
                </a:xfrm>
              </p:grpSpPr>
              <p:pic>
                <p:nvPicPr>
                  <p:cNvPr id="117" name="Google Shape;117;g388623ffe6e_0_61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5019963" y="-2607962"/>
                    <a:ext cx="6810375" cy="37242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8" name="Google Shape;118;g388623ffe6e_0_61"/>
                  <p:cNvSpPr/>
                  <p:nvPr/>
                </p:nvSpPr>
                <p:spPr>
                  <a:xfrm>
                    <a:off x="8951750" y="364000"/>
                    <a:ext cx="1128900" cy="287400"/>
                  </a:xfrm>
                  <a:prstGeom prst="rect">
                    <a:avLst/>
                  </a:prstGeom>
                  <a:noFill/>
                  <a:ln cap="flat" cmpd="sng" w="282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0300" lIns="90300" spcFirstLastPara="1" rIns="90300" wrap="square" tIns="903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82"/>
                      <a:buFont typeface="Arial"/>
                      <a:buNone/>
                    </a:pPr>
                    <a:r>
                      <a:t/>
                    </a:r>
                    <a:endParaRPr b="0" i="0" sz="13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g388623ffe6e_0_61"/>
                  <p:cNvSpPr txBox="1"/>
                  <p:nvPr/>
                </p:nvSpPr>
                <p:spPr>
                  <a:xfrm>
                    <a:off x="8686666" y="614562"/>
                    <a:ext cx="1690800" cy="398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0300" lIns="90300" spcFirstLastPara="1" rIns="90300" wrap="square" tIns="903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85"/>
                      <a:buFont typeface="Arial"/>
                      <a:buNone/>
                    </a:pPr>
                    <a:r>
                      <a:rPr i="0" lang="zh-TW" sz="1185" u="none" cap="none" strike="noStrike">
                        <a:solidFill>
                          <a:schemeClr val="dk1"/>
                        </a:solidFill>
                      </a:rPr>
                      <a:t>直接被放在prompt裡</a:t>
                    </a:r>
                    <a:endParaRPr i="0" sz="1185" u="none" cap="none" strike="noStrike">
                      <a:solidFill>
                        <a:schemeClr val="dk1"/>
                      </a:solidFill>
                    </a:endParaRPr>
                  </a:p>
                </p:txBody>
              </p:sp>
            </p:grpSp>
            <p:sp>
              <p:nvSpPr>
                <p:cNvPr id="120" name="Google Shape;120;g388623ffe6e_0_61"/>
                <p:cNvSpPr/>
                <p:nvPr/>
              </p:nvSpPr>
              <p:spPr>
                <a:xfrm>
                  <a:off x="7315311" y="2159482"/>
                  <a:ext cx="1141200" cy="287400"/>
                </a:xfrm>
                <a:prstGeom prst="rect">
                  <a:avLst/>
                </a:prstGeom>
                <a:noFill/>
                <a:ln cap="flat" cmpd="sng" w="282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0300" lIns="90300" spcFirstLastPara="1" rIns="90300" wrap="square" tIns="903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82"/>
                    <a:buFont typeface="Arial"/>
                    <a:buNone/>
                  </a:pPr>
                  <a:r>
                    <a:t/>
                  </a:r>
                  <a:endParaRPr b="0" i="0" sz="138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1" name="Google Shape;121;g388623ffe6e_0_61"/>
              <p:cNvSpPr txBox="1"/>
              <p:nvPr/>
            </p:nvSpPr>
            <p:spPr>
              <a:xfrm>
                <a:off x="5404500" y="1432675"/>
                <a:ext cx="1121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0300" lIns="90300" spcFirstLastPara="1" rIns="90300" wrap="square" tIns="903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82"/>
                  <a:buFont typeface="Arial"/>
                  <a:buNone/>
                </a:pPr>
                <a:r>
                  <a:rPr b="1" i="0" lang="zh-TW" sz="1382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GPT-4</a:t>
                </a:r>
                <a:endParaRPr b="1" i="0" sz="1382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g388623ffe6e_0_61"/>
              <p:cNvSpPr txBox="1"/>
              <p:nvPr/>
            </p:nvSpPr>
            <p:spPr>
              <a:xfrm>
                <a:off x="5502338" y="3688439"/>
                <a:ext cx="1121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0300" lIns="90300" spcFirstLastPara="1" rIns="90300" wrap="square" tIns="903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82"/>
                  <a:buFont typeface="Arial"/>
                  <a:buNone/>
                </a:pPr>
                <a:r>
                  <a:rPr b="1" i="0" lang="zh-TW" sz="1382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GPT-4</a:t>
                </a:r>
                <a:endParaRPr b="1" i="0" sz="1382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" name="Google Shape;123;g388623ffe6e_0_61"/>
            <p:cNvSpPr txBox="1"/>
            <p:nvPr/>
          </p:nvSpPr>
          <p:spPr>
            <a:xfrm>
              <a:off x="7355783" y="2737680"/>
              <a:ext cx="11079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300" lIns="90300" spcFirstLastPara="1" rIns="90300" wrap="square" tIns="903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zh-TW" sz="1200" u="none" cap="none" strike="noStrike">
                  <a:solidFill>
                    <a:srgbClr val="0033A1"/>
                  </a:solidFill>
                  <a:latin typeface="Arial"/>
                  <a:ea typeface="Arial"/>
                  <a:cs typeface="Arial"/>
                  <a:sym typeface="Arial"/>
                </a:rPr>
                <a:t>多輪微調</a:t>
              </a:r>
              <a:endParaRPr b="1" i="0" sz="1200" u="none" cap="none" strike="noStrike">
                <a:solidFill>
                  <a:srgbClr val="0033A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88623ffe6e_0_76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88623ffe6e_0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900300" y="5381975"/>
            <a:ext cx="77724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88623ffe6e_0_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5250" y="5381975"/>
            <a:ext cx="7962900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88623ffe6e_0_7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276875" y="-3352000"/>
            <a:ext cx="4276874" cy="349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88623ffe6e_0_7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3762500" y="547025"/>
            <a:ext cx="3463500" cy="300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88623ffe6e_0_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g388623ffe6e_0_76"/>
          <p:cNvSpPr txBox="1"/>
          <p:nvPr/>
        </p:nvSpPr>
        <p:spPr>
          <a:xfrm>
            <a:off x="442925" y="736001"/>
            <a:ext cx="8027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❏"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多輪微調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以 Qwen2-7B-Instruct，當作 base model，拿去微調。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模型在訓練中會根據對話歷史 c&lt;i (第 i 輪之前的對話) 來預測諮詢師的第 i 輪目標回應 ŷi，並拿 ŷi 去計算與實際目標回應 yi 之間的 loss。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g388623ffe6e_0_76"/>
          <p:cNvGrpSpPr/>
          <p:nvPr/>
        </p:nvGrpSpPr>
        <p:grpSpPr>
          <a:xfrm>
            <a:off x="2522450" y="2019712"/>
            <a:ext cx="4541551" cy="2365575"/>
            <a:chOff x="2301225" y="2029000"/>
            <a:chExt cx="4541551" cy="2365575"/>
          </a:xfrm>
        </p:grpSpPr>
        <p:pic>
          <p:nvPicPr>
            <p:cNvPr id="137" name="Google Shape;137;g388623ffe6e_0_7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301225" y="2029000"/>
              <a:ext cx="4541551" cy="2365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g388623ffe6e_0_76"/>
            <p:cNvSpPr/>
            <p:nvPr/>
          </p:nvSpPr>
          <p:spPr>
            <a:xfrm>
              <a:off x="3529975" y="3035450"/>
              <a:ext cx="1610100" cy="2949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g388623ffe6e_0_76"/>
            <p:cNvCxnSpPr/>
            <p:nvPr/>
          </p:nvCxnSpPr>
          <p:spPr>
            <a:xfrm flipH="1" rot="10800000">
              <a:off x="4710350" y="2798775"/>
              <a:ext cx="112800" cy="2484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40" name="Google Shape;140;g388623ffe6e_0_76"/>
          <p:cNvSpPr txBox="1"/>
          <p:nvPr/>
        </p:nvSpPr>
        <p:spPr>
          <a:xfrm>
            <a:off x="376425" y="83525"/>
            <a:ext cx="518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三、資料準備與模型微調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88623ffe6e_0_89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88623ffe6e_0_89"/>
          <p:cNvSpPr txBox="1"/>
          <p:nvPr/>
        </p:nvSpPr>
        <p:spPr>
          <a:xfrm>
            <a:off x="376425" y="83525"/>
            <a:ext cx="301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四、研究問題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8" name="Google Shape;148;g388623ffe6e_0_89"/>
          <p:cNvSpPr txBox="1"/>
          <p:nvPr/>
        </p:nvSpPr>
        <p:spPr>
          <a:xfrm>
            <a:off x="783300" y="1110550"/>
            <a:ext cx="8095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RQ1</a:t>
            </a: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：合成的多輪對話資料集與真實諮商案例之間有多大的相似性？</a:t>
            </a:r>
            <a:b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RQ2</a:t>
            </a: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：PsyDTCorpus 的表現與其他多輪對話資料集相比如何？</a:t>
            </a:r>
            <a:b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RQ3</a:t>
            </a: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：對於 PsyDTCorpus，PsyDT 的多輪對話合成方法中，每個用來合成的部分是否都有效？</a:t>
            </a:r>
            <a:b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RQ4</a:t>
            </a: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：PsyDTLLM 與其他 LLM 相比，效能如何？</a:t>
            </a: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88623ffe6e_0_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8623ffe6e_0_113"/>
          <p:cNvSpPr txBox="1"/>
          <p:nvPr/>
        </p:nvSpPr>
        <p:spPr>
          <a:xfrm>
            <a:off x="114650" y="807163"/>
            <a:ext cx="949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88623ffe6e_0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3950" y="-680775"/>
            <a:ext cx="3017124" cy="24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88623ffe6e_0_113" title="螢幕擷取畫面 2025-09-06 05432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88623ffe6e_0_113"/>
          <p:cNvSpPr txBox="1"/>
          <p:nvPr/>
        </p:nvSpPr>
        <p:spPr>
          <a:xfrm>
            <a:off x="376425" y="83525"/>
            <a:ext cx="462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五、方法與實驗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結果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59" name="Google Shape;159;g388623ffe6e_0_1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62625" y="1186312"/>
            <a:ext cx="9144000" cy="4103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88623ffe6e_0_1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g388623ffe6e_0_113"/>
          <p:cNvSpPr txBox="1"/>
          <p:nvPr/>
        </p:nvSpPr>
        <p:spPr>
          <a:xfrm>
            <a:off x="6337400" y="-3509425"/>
            <a:ext cx="58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88623ffe6e_0_1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68949" y="1870911"/>
            <a:ext cx="3248050" cy="27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88623ffe6e_0_1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6975700" y="-1996600"/>
            <a:ext cx="6515750" cy="43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88623ffe6e_0_1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7364126" y="2583925"/>
            <a:ext cx="6904175" cy="451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88623ffe6e_0_113"/>
          <p:cNvSpPr txBox="1"/>
          <p:nvPr/>
        </p:nvSpPr>
        <p:spPr>
          <a:xfrm>
            <a:off x="114650" y="735063"/>
            <a:ext cx="9497400" cy="3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❏"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RQ1</a:t>
            </a: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：合成的多輪對話資料集與真實諮商案例之間有多大的相似性？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每個主題隨機抽 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則單輪對話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作為素材，分別用三種方法各自合成對應的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多輪對話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13716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PsyDT_Prompt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（本文方法）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13716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Smile_Prompt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（其他多輪對話合成方法）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13716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SoulChat_Prompt 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（其他多輪對話合成方法）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 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"LLM-as-judge"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評估相似度，請 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GPT-4o 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與 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Claude 3.5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對多輪諮詢對話的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語言風格、治療方法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打分數並取平均。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❏"/>
            </a:pP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 12 個不同的諮詢主題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下，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PsyDT_Prompt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合成的多輪對話和真實對話達到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約 70% 相似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acb011cd0_1_9"/>
          <p:cNvSpPr txBox="1"/>
          <p:nvPr/>
        </p:nvSpPr>
        <p:spPr>
          <a:xfrm>
            <a:off x="114650" y="807163"/>
            <a:ext cx="949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38acb011cd0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3950" y="-680775"/>
            <a:ext cx="3017124" cy="24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8acb011cd0_1_9" title="螢幕擷取畫面 2025-09-06 05432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8acb011cd0_1_9"/>
          <p:cNvSpPr txBox="1"/>
          <p:nvPr/>
        </p:nvSpPr>
        <p:spPr>
          <a:xfrm>
            <a:off x="376425" y="83525"/>
            <a:ext cx="462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五、方法與實驗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結果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75" name="Google Shape;175;g38acb011cd0_1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62625" y="1186312"/>
            <a:ext cx="9144000" cy="4103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8acb011cd0_1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77" name="Google Shape;177;g38acb011cd0_1_9"/>
          <p:cNvSpPr txBox="1"/>
          <p:nvPr/>
        </p:nvSpPr>
        <p:spPr>
          <a:xfrm>
            <a:off x="6337400" y="-3509425"/>
            <a:ext cx="58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38acb011cd0_1_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68949" y="1870911"/>
            <a:ext cx="3248050" cy="27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8acb011cd0_1_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72350" y="687200"/>
            <a:ext cx="5688275" cy="37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8acb011cd0_1_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7364126" y="2583925"/>
            <a:ext cx="6904175" cy="451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81f0f0602f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25" y="1017625"/>
            <a:ext cx="4192625" cy="34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81f0f0602f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7325" y="1135275"/>
            <a:ext cx="3959975" cy="33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81f0f0602f_0_2"/>
          <p:cNvSpPr txBox="1"/>
          <p:nvPr/>
        </p:nvSpPr>
        <p:spPr>
          <a:xfrm>
            <a:off x="114650" y="735063"/>
            <a:ext cx="949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rial"/>
              <a:buChar char="❏"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RQ1</a:t>
            </a: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：合成的多輪對話資料集與真實諮商案例之間有多大的相似性？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81f0f0602f_0_2" title="螢幕擷取畫面 2025-09-06 05432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81f0f0602f_0_2"/>
          <p:cNvSpPr txBox="1"/>
          <p:nvPr/>
        </p:nvSpPr>
        <p:spPr>
          <a:xfrm>
            <a:off x="376425" y="83525"/>
            <a:ext cx="462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五、方法與實驗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結果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91" name="Google Shape;191;g381f0f0602f_0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62625" y="1186312"/>
            <a:ext cx="9144000" cy="4103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81f0f0602f_0_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93" name="Google Shape;193;g381f0f0602f_0_2"/>
          <p:cNvSpPr txBox="1"/>
          <p:nvPr/>
        </p:nvSpPr>
        <p:spPr>
          <a:xfrm>
            <a:off x="6337400" y="-3509425"/>
            <a:ext cx="58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81f0f0602f_0_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6975700" y="-1996600"/>
            <a:ext cx="6515750" cy="43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81f0f0602f_0_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7364126" y="2583925"/>
            <a:ext cx="6904175" cy="451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7d62552ecd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425" y="1665825"/>
            <a:ext cx="8697800" cy="280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7d62552ecd_0_29" title="螢幕擷取畫面 2025-09-06 05432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7d62552ecd_0_29"/>
          <p:cNvSpPr txBox="1"/>
          <p:nvPr/>
        </p:nvSpPr>
        <p:spPr>
          <a:xfrm>
            <a:off x="223100" y="651300"/>
            <a:ext cx="8872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❏"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RQ2</a:t>
            </a: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：PsyDTCorpus 的表現與其他多輪對話資料集相比如何？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專家人工評分 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 位心理學碩士 + 1 位心理治療師):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是否含有</a:t>
            </a: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EmoE.（情緒同理）、CogE.（認知同理）、TheT.（治療方法）的語料內容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對話策略 (0~10分)、態度 (0~10分)、關係建立(0~10分)、治療技術應用(0~10分)、流暢度(0~1分)、安全性(是/否)。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7d62552ecd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05" name="Google Shape;205;g37d62552ecd_0_29"/>
          <p:cNvSpPr/>
          <p:nvPr/>
        </p:nvSpPr>
        <p:spPr>
          <a:xfrm>
            <a:off x="5766150" y="3993800"/>
            <a:ext cx="2381400" cy="198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7d62552ecd_0_29"/>
          <p:cNvSpPr txBox="1"/>
          <p:nvPr/>
        </p:nvSpPr>
        <p:spPr>
          <a:xfrm>
            <a:off x="376425" y="83525"/>
            <a:ext cx="462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五、方法與實驗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結果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7d62552ecd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2400" y="1181986"/>
            <a:ext cx="4622700" cy="32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7d62552ecd_0_41" title="螢幕擷取畫面 2025-09-06 05432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7d62552ecd_0_41"/>
          <p:cNvSpPr txBox="1"/>
          <p:nvPr/>
        </p:nvSpPr>
        <p:spPr>
          <a:xfrm>
            <a:off x="160625" y="904100"/>
            <a:ext cx="8592000" cy="27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❏"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RQ3</a:t>
            </a: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：對於 PsyDTCorpus，PsyDT 的多輪對話合成方法中，每個用來合成的部分是否都有效？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2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❏"/>
            </a:pP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消融實驗：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對 16 組樣本，分別移除"語言風格"、"治療技法"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24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、"客戶人格" 其中一個去合成消融版本的多輪對話。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2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❏"/>
            </a:pP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專家人工評分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：讓五位評審在完整版和消融版之間，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24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讓他們投票偏好哪一版本，票多的贏。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7d62552ecd_0_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16" name="Google Shape;216;g37d62552ecd_0_41"/>
          <p:cNvSpPr txBox="1"/>
          <p:nvPr/>
        </p:nvSpPr>
        <p:spPr>
          <a:xfrm>
            <a:off x="376425" y="83525"/>
            <a:ext cx="462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五、方法與實驗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結果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88623ffe6e_0_120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88623ffe6e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8725" y="734450"/>
            <a:ext cx="4720549" cy="28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88623ffe6e_0_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225" name="Google Shape;225;g388623ffe6e_0_120"/>
          <p:cNvGrpSpPr/>
          <p:nvPr/>
        </p:nvGrpSpPr>
        <p:grpSpPr>
          <a:xfrm>
            <a:off x="243575" y="734450"/>
            <a:ext cx="8821675" cy="3583200"/>
            <a:chOff x="199475" y="812100"/>
            <a:chExt cx="8821675" cy="3583200"/>
          </a:xfrm>
        </p:grpSpPr>
        <p:sp>
          <p:nvSpPr>
            <p:cNvPr id="226" name="Google Shape;226;g388623ffe6e_0_120"/>
            <p:cNvSpPr txBox="1"/>
            <p:nvPr/>
          </p:nvSpPr>
          <p:spPr>
            <a:xfrm>
              <a:off x="199475" y="812100"/>
              <a:ext cx="8027400" cy="35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❏"/>
              </a:pPr>
              <a:r>
                <a:rPr b="1" i="0" lang="zh-TW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RQ4</a:t>
              </a:r>
              <a:r>
                <a:rPr b="0" i="0" lang="zh-TW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：PsyDTLLM 與其他 LLM 相比，效能如何？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和多個非開源 LLM、開源 LLM、心理健康相關 LLM 比較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評估指標：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9144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AutoNum type="arabicPeriod"/>
              </a:pP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計算生成文本和參考文本的重疊程度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		</a:t>
              </a: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ROUGE - 1</a:t>
              </a: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：單個詞的重疊比例 (0~1)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9144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ROUGE - 2</a:t>
              </a: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：連續兩個詞的重疊比例 (0~1)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9144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ROUGE - L</a:t>
              </a: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：最長共同子序列 (0~1)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57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BLEU-4 ：</a:t>
              </a: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unigram到4-gram的重疊比例再平均</a:t>
              </a: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(0~1)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572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200">
                  <a:solidFill>
                    <a:schemeClr val="dk1"/>
                  </a:solidFill>
                </a:rPr>
                <a:t>   2.    </a:t>
              </a: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辨別生成文本和參考文本的語意相似度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9144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FBERT (BERTScore)</a:t>
              </a:r>
              <a:r>
                <a:rPr b="0" i="0" lang="zh-TW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：用 BERT 取出兩個文本的 embedding，去計算 cosine similarity，透過 max similarity 匹配之後，會得到 F1 score。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88623ffe6e_0_120"/>
            <p:cNvSpPr txBox="1"/>
            <p:nvPr/>
          </p:nvSpPr>
          <p:spPr>
            <a:xfrm>
              <a:off x="5406150" y="2382925"/>
              <a:ext cx="3615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zh-TW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偏重 Recall  (參考答案的詞有多少出現在生成文本裡)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388623ffe6e_0_120"/>
            <p:cNvSpPr txBox="1"/>
            <p:nvPr/>
          </p:nvSpPr>
          <p:spPr>
            <a:xfrm>
              <a:off x="5406150" y="2945425"/>
              <a:ext cx="3615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zh-TW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偏重 Precision</a:t>
              </a:r>
              <a:r>
                <a:rPr b="1" i="0" lang="zh-TW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zh-TW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(生成的文字有多少是存在參考答案裡的)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g388623ffe6e_0_120"/>
            <p:cNvCxnSpPr>
              <a:endCxn id="227" idx="1"/>
            </p:cNvCxnSpPr>
            <p:nvPr/>
          </p:nvCxnSpPr>
          <p:spPr>
            <a:xfrm>
              <a:off x="4271850" y="2558725"/>
              <a:ext cx="1134300" cy="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0" name="Google Shape;230;g388623ffe6e_0_120"/>
            <p:cNvCxnSpPr>
              <a:endCxn id="228" idx="1"/>
            </p:cNvCxnSpPr>
            <p:nvPr/>
          </p:nvCxnSpPr>
          <p:spPr>
            <a:xfrm flipH="1" rot="10800000">
              <a:off x="4945650" y="3122425"/>
              <a:ext cx="4605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1" name="Google Shape;231;g388623ffe6e_0_120"/>
            <p:cNvSpPr/>
            <p:nvPr/>
          </p:nvSpPr>
          <p:spPr>
            <a:xfrm>
              <a:off x="4064950" y="2279938"/>
              <a:ext cx="207025" cy="647500"/>
            </a:xfrm>
            <a:custGeom>
              <a:rect b="b" l="l" r="r" t="t"/>
              <a:pathLst>
                <a:path extrusionOk="0" h="25900" w="8281">
                  <a:moveTo>
                    <a:pt x="0" y="0"/>
                  </a:moveTo>
                  <a:cubicBezTo>
                    <a:pt x="1376" y="1971"/>
                    <a:pt x="8070" y="7507"/>
                    <a:pt x="8258" y="11824"/>
                  </a:cubicBezTo>
                  <a:cubicBezTo>
                    <a:pt x="8446" y="16141"/>
                    <a:pt x="2315" y="23554"/>
                    <a:pt x="1126" y="2590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32" name="Google Shape;232;g388623ffe6e_0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244087" y="734450"/>
            <a:ext cx="3838575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88623ffe6e_0_120"/>
          <p:cNvSpPr txBox="1"/>
          <p:nvPr/>
        </p:nvSpPr>
        <p:spPr>
          <a:xfrm>
            <a:off x="376425" y="83525"/>
            <a:ext cx="462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五、方法與實驗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結果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7d780f78d4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2088" y="1559275"/>
            <a:ext cx="4799874" cy="288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7d780f78d4_0_10" title="螢幕擷取畫面 2025-09-06 05432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" y="4507400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7d780f78d4_0_10"/>
          <p:cNvSpPr txBox="1"/>
          <p:nvPr/>
        </p:nvSpPr>
        <p:spPr>
          <a:xfrm>
            <a:off x="207150" y="658100"/>
            <a:ext cx="826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❏"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RQ4</a:t>
            </a: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：PsyDTLLM 與其他 LLM 相比，效能如何？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   LLM-as-judge評估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：從 12 主題各抽取 20 筆，作者團隊設計具體的評分標準，接著請 GPT-4o 與 Claude 3.5 對 240 筆資料給分，評估情感同理、認知同理、對話策略、態度和安全性，取兩個分數的平均作最終成績。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7d780f78d4_0_10"/>
          <p:cNvSpPr txBox="1"/>
          <p:nvPr>
            <p:ph idx="12" type="sldNum"/>
          </p:nvPr>
        </p:nvSpPr>
        <p:spPr>
          <a:xfrm>
            <a:off x="8472458" y="47022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43" name="Google Shape;243;g37d780f78d4_0_10"/>
          <p:cNvSpPr txBox="1"/>
          <p:nvPr/>
        </p:nvSpPr>
        <p:spPr>
          <a:xfrm>
            <a:off x="376425" y="83525"/>
            <a:ext cx="462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五、方法與實驗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結果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88623ffe6e_0_134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88623ffe6e_0_134"/>
          <p:cNvSpPr txBox="1"/>
          <p:nvPr/>
        </p:nvSpPr>
        <p:spPr>
          <a:xfrm>
            <a:off x="376425" y="83525"/>
            <a:ext cx="453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六、結論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與反思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51" name="Google Shape;251;g388623ffe6e_0_134"/>
          <p:cNvSpPr txBox="1"/>
          <p:nvPr/>
        </p:nvSpPr>
        <p:spPr>
          <a:xfrm>
            <a:off x="442950" y="745300"/>
            <a:ext cx="8578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❏"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總結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透過多輪對話合成方法，建立 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PsyDTCorpus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建立 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PsyDT</a:t>
            </a:r>
            <a:r>
              <a:rPr b="1" i="0" lang="zh-TW" sz="1200" u="none" cap="none" strike="noStrike">
                <a:solidFill>
                  <a:schemeClr val="dk1"/>
                </a:solidFill>
              </a:rPr>
              <a:t>LLM</a:t>
            </a:r>
            <a:r>
              <a:rPr lang="zh-TW" sz="1200">
                <a:solidFill>
                  <a:schemeClr val="dk1"/>
                </a:solidFill>
              </a:rPr>
              <a:t> (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具特定諮商風格的諮商師</a:t>
            </a:r>
            <a:r>
              <a:rPr lang="zh-TW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合成對話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貼近真實諮商案例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，PsyDT </a:t>
            </a:r>
            <a:r>
              <a:rPr lang="zh-TW" sz="1200">
                <a:solidFill>
                  <a:schemeClr val="dk1"/>
                </a:solidFill>
              </a:rPr>
              <a:t>有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實務應用的潛力。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❏"/>
            </a:pPr>
            <a:r>
              <a:rPr b="1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限制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本框架是為了建立特定風格的心理師</a:t>
            </a:r>
            <a:r>
              <a:rPr lang="zh-TW" sz="1200">
                <a:solidFill>
                  <a:schemeClr val="dk1"/>
                </a:solidFill>
              </a:rPr>
              <a:t>，每個主題只使用一位心理師的諮商案例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，</a:t>
            </a:r>
            <a:r>
              <a:rPr lang="zh-TW" sz="1200">
                <a:solidFill>
                  <a:schemeClr val="dk1"/>
                </a:solidFill>
              </a:rPr>
              <a:t>可能只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滿足特定風格的個案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不保證能解決個案的實際問題，也無法保證滿足所有個案的需求。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❏"/>
            </a:pPr>
            <a:r>
              <a:rPr b="1" lang="zh-TW">
                <a:solidFill>
                  <a:schemeClr val="dk1"/>
                </a:solidFill>
              </a:rPr>
              <a:t>Future Work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可以研究結合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多位心理師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去做</a:t>
            </a:r>
            <a:r>
              <a:rPr b="1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聯合診斷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的應用。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88623ffe6e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g38acb011cd0_1_0" title="螢幕擷取畫面 2025-09-06 0543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8acb011cd0_1_0"/>
          <p:cNvSpPr txBox="1"/>
          <p:nvPr/>
        </p:nvSpPr>
        <p:spPr>
          <a:xfrm>
            <a:off x="376425" y="83525"/>
            <a:ext cx="453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六、結論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與反思</a:t>
            </a:r>
            <a:endParaRPr b="1" i="0" sz="28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60" name="Google Shape;260;g38acb011cd0_1_0"/>
          <p:cNvSpPr txBox="1"/>
          <p:nvPr/>
        </p:nvSpPr>
        <p:spPr>
          <a:xfrm>
            <a:off x="442925" y="879525"/>
            <a:ext cx="7280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反思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zh-TW" sz="1200">
                <a:solidFill>
                  <a:schemeClr val="dk1"/>
                </a:solidFill>
              </a:rPr>
              <a:t>改善</a:t>
            </a:r>
            <a:r>
              <a:rPr b="1" lang="zh-TW" sz="1200">
                <a:solidFill>
                  <a:schemeClr val="dk1"/>
                </a:solidFill>
              </a:rPr>
              <a:t>消融實驗: </a:t>
            </a:r>
            <a:r>
              <a:rPr lang="zh-TW" sz="1200">
                <a:solidFill>
                  <a:schemeClr val="dk1"/>
                </a:solidFill>
              </a:rPr>
              <a:t>只有隨機抽取 16 組樣本去做人工投票，但樣本數太少，而且可能主題相同。需要抽樣更多筆資料(每個主題都各抽k筆)去做人工投票，實驗結果才比較可靠。</a:t>
            </a:r>
            <a:endParaRPr b="1" sz="1200">
              <a:solidFill>
                <a:schemeClr val="dk1"/>
              </a:solidFill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zh-TW" sz="1200">
                <a:solidFill>
                  <a:schemeClr val="dk1"/>
                </a:solidFill>
              </a:rPr>
              <a:t>LLM-as-Judge 評估偏差: </a:t>
            </a:r>
            <a:r>
              <a:rPr lang="zh-TW" sz="1200">
                <a:solidFill>
                  <a:schemeClr val="dk1"/>
                </a:solidFill>
              </a:rPr>
              <a:t>評分容易受到 prompt 設計和模型偏好的影響，可以再多幾個模型參與評估，讓結果可以更穩定。</a:t>
            </a:r>
            <a:endParaRPr b="1" sz="1200">
              <a:solidFill>
                <a:schemeClr val="dk1"/>
              </a:solidFill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zh-TW" sz="1200">
                <a:solidFill>
                  <a:schemeClr val="dk1"/>
                </a:solidFill>
              </a:rPr>
              <a:t>加入使用者的回饋:</a:t>
            </a:r>
            <a:br>
              <a:rPr lang="zh-TW" sz="1200">
                <a:solidFill>
                  <a:schemeClr val="dk1"/>
                </a:solidFill>
              </a:rPr>
            </a:br>
            <a:r>
              <a:rPr lang="zh-TW" sz="1200">
                <a:solidFill>
                  <a:schemeClr val="dk1"/>
                </a:solidFill>
              </a:rPr>
              <a:t> LLM-as-judge和專家人工評分都屬於間接評估，可以邀請真實使用者進行對話，收集回饋，比較能反映在真實應用上的表現。補足目前用 LLM 與專家評估的不足。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61" name="Google Shape;261;g38acb011cd0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g388623ffe6e_0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8200" y="1901550"/>
            <a:ext cx="9305926" cy="10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88623ffe6e_0_177" title="螢幕擷取畫面 2025-09-06 05432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" y="4468375"/>
            <a:ext cx="9143772" cy="7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88623ffe6e_0_177"/>
          <p:cNvSpPr txBox="1"/>
          <p:nvPr/>
        </p:nvSpPr>
        <p:spPr>
          <a:xfrm>
            <a:off x="558299" y="2050500"/>
            <a:ext cx="8027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zh-TW" sz="36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Thanks for your attention！</a:t>
            </a:r>
            <a:endParaRPr b="1" i="0" sz="36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70" name="Google Shape;270;g388623ffe6e_0_1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